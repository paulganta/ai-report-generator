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6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5143500" type="screen16x9"/>
  <p:notesSz cx="6858000" cy="9144000"/>
  <p:embeddedFontLst>
    <p:embeddedFont>
      <p:font typeface="Anaheim" pitchFamily="2" charset="77"/>
      <p:regular r:id="rId17"/>
      <p:bold r:id="rId18"/>
    </p:embeddedFont>
    <p:embeddedFont>
      <p:font typeface="Barlow" pitchFamily="2" charset="77"/>
      <p:regular r:id="rId19"/>
      <p:bold r:id="rId20"/>
      <p:italic r:id="rId21"/>
      <p:boldItalic r:id="rId22"/>
    </p:embeddedFont>
    <p:embeddedFont>
      <p:font typeface="Poppins" pitchFamily="2" charset="77"/>
      <p:regular r:id="rId23"/>
      <p:bold r:id="rId24"/>
      <p:italic r:id="rId25"/>
      <p:boldItalic r:id="rId26"/>
    </p:embeddedFont>
    <p:embeddedFont>
      <p:font typeface="Poppins Black" panose="020B0604020202020204" pitchFamily="34" charset="0"/>
      <p:bold r:id="rId27"/>
      <p:italic r:id="rId28"/>
      <p:boldItalic r:id="rId29"/>
    </p:embeddedFont>
    <p:embeddedFont>
      <p:font typeface="Poppins ExtraBold" panose="020B0604020202020204" pitchFamily="34" charset="0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663F94-F122-417D-A887-53387DE673C8}">
  <a:tblStyle styleId="{BC663F94-F122-417D-A887-53387DE673C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7E283EE-A9AB-4E9E-9B04-885AE1755E3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159" d="100"/>
          <a:sy n="159" d="100"/>
        </p:scale>
        <p:origin x="184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6001FF94-9AAF-E8D2-90C7-A1FBD3B8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1BF79DB3-FF0B-075D-01A5-B50342189A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E35254CC-C454-3BE3-6663-D8B42CA6F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225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4E5126F2-DF3E-F831-2F67-CB45C1C7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EF4C0591-4B9F-B89A-5C91-EF53E3D1A2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8EAEC427-A0A4-75FD-E424-6638C5C13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84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7122D0C2-F55A-6658-750C-F9B38919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1174FCA8-D7D8-D640-470E-4574B8184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DDF85E0D-0745-2868-5EA6-8D04A9AD4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756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75B15AE0-0903-0AD7-32A8-2535CB0D4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09D23D09-3BE7-3939-8691-61040DACF8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38320489-23B9-D6B7-A38F-58D5538BA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02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F207D1DE-6919-3AB6-32FF-9C90D8AC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38758531-E4E5-43E7-1462-006B6C3960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C4C575C3-09A1-783A-8AF0-C80CC7DA7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382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9697158D-99A7-4CF2-7A9C-E2563F208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1D0F4C54-F11E-48D3-4E4C-A6944E42AD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236A3300-2D41-9EC6-2DDF-F857DE244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129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EE134F9C-0225-20C6-3CF3-DADCB18B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6B9AD0B0-D235-2D17-5EA2-E2FC506C3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5AA5A69B-F45B-B31A-0E2C-4F5F0E685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189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A639E3C0-9373-752F-FEB7-59FE5A3D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AD17AA5D-A44B-B739-B534-844E3BAE3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22EF1A1B-2901-A34F-4057-741A4AD42D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6350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>
          <a:extLst>
            <a:ext uri="{FF2B5EF4-FFF2-40B4-BE49-F238E27FC236}">
              <a16:creationId xmlns:a16="http://schemas.microsoft.com/office/drawing/2014/main" id="{692440F2-764B-364B-9101-6840BD92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54dda1946d_6_308:notes">
            <a:extLst>
              <a:ext uri="{FF2B5EF4-FFF2-40B4-BE49-F238E27FC236}">
                <a16:creationId xmlns:a16="http://schemas.microsoft.com/office/drawing/2014/main" id="{0062BECE-A415-F99B-3507-182215C11E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54dda1946d_6_308:notes">
            <a:extLst>
              <a:ext uri="{FF2B5EF4-FFF2-40B4-BE49-F238E27FC236}">
                <a16:creationId xmlns:a16="http://schemas.microsoft.com/office/drawing/2014/main" id="{A0F352B9-CE08-6659-5A91-316D783B5A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59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4C79260A-0966-18C1-CED3-72F436CD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0562FDDB-1770-70C5-6F9A-845516391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50936AEB-CC76-4D38-AFC7-ACE7D44CD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938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3"/>
          <p:cNvGrpSpPr/>
          <p:nvPr/>
        </p:nvGrpSpPr>
        <p:grpSpPr>
          <a:xfrm>
            <a:off x="-642935" y="-1483293"/>
            <a:ext cx="10417533" cy="7928897"/>
            <a:chOff x="-642935" y="-1483293"/>
            <a:chExt cx="10417533" cy="7928897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-642935" y="-148329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6254199" y="46040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-732996" y="7"/>
            <a:ext cx="7266640" cy="5159850"/>
            <a:chOff x="-732996" y="7"/>
            <a:chExt cx="7266640" cy="5159850"/>
          </a:xfrm>
        </p:grpSpPr>
        <p:sp>
          <p:nvSpPr>
            <p:cNvPr id="35" name="Google Shape;35;p3"/>
            <p:cNvSpPr/>
            <p:nvPr/>
          </p:nvSpPr>
          <p:spPr>
            <a:xfrm rot="10800000">
              <a:off x="4161656" y="4976326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10800000">
              <a:off x="5115392" y="7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-732996" y="4324988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41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oppins"/>
              <a:buNone/>
              <a:defRPr sz="6000" b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grpSp>
        <p:nvGrpSpPr>
          <p:cNvPr id="40" name="Google Shape;40;p3"/>
          <p:cNvGrpSpPr/>
          <p:nvPr/>
        </p:nvGrpSpPr>
        <p:grpSpPr>
          <a:xfrm>
            <a:off x="-10" y="-2237114"/>
            <a:ext cx="9822707" cy="9720614"/>
            <a:chOff x="-10" y="-2237114"/>
            <a:chExt cx="9822707" cy="9720614"/>
          </a:xfrm>
        </p:grpSpPr>
        <p:sp>
          <p:nvSpPr>
            <p:cNvPr id="41" name="Google Shape;41;p3"/>
            <p:cNvSpPr/>
            <p:nvPr/>
          </p:nvSpPr>
          <p:spPr>
            <a:xfrm rot="10800000">
              <a:off x="4707290" y="-2237114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-10" y="446596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 flipH="1">
            <a:off x="-1344315" y="539496"/>
            <a:ext cx="3074607" cy="453954"/>
            <a:chOff x="5478797" y="847321"/>
            <a:chExt cx="3074607" cy="453954"/>
          </a:xfrm>
        </p:grpSpPr>
        <p:grpSp>
          <p:nvGrpSpPr>
            <p:cNvPr id="44" name="Google Shape;44;p3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6" name="Google Shape;46;p3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48" name="Google Shape;48;p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Google Shape;49;p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3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13"/>
          <p:cNvGrpSpPr/>
          <p:nvPr/>
        </p:nvGrpSpPr>
        <p:grpSpPr>
          <a:xfrm>
            <a:off x="-150966" y="-1569997"/>
            <a:ext cx="9294978" cy="8009776"/>
            <a:chOff x="-150966" y="-1569997"/>
            <a:chExt cx="9294978" cy="8009776"/>
          </a:xfrm>
        </p:grpSpPr>
        <p:sp>
          <p:nvSpPr>
            <p:cNvPr id="234" name="Google Shape;234;p13"/>
            <p:cNvSpPr/>
            <p:nvPr/>
          </p:nvSpPr>
          <p:spPr>
            <a:xfrm flipH="1">
              <a:off x="-150966" y="452838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 rot="10800000">
              <a:off x="5623599" y="-15699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13"/>
          <p:cNvSpPr txBox="1">
            <a:spLocks noGrp="1"/>
          </p:cNvSpPr>
          <p:nvPr>
            <p:ph type="subTitle" idx="1"/>
          </p:nvPr>
        </p:nvSpPr>
        <p:spPr>
          <a:xfrm>
            <a:off x="1024750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subTitle" idx="2"/>
          </p:nvPr>
        </p:nvSpPr>
        <p:spPr>
          <a:xfrm>
            <a:off x="3419221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subTitle" idx="3"/>
          </p:nvPr>
        </p:nvSpPr>
        <p:spPr>
          <a:xfrm>
            <a:off x="5813699" y="324168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subTitle" idx="4"/>
          </p:nvPr>
        </p:nvSpPr>
        <p:spPr>
          <a:xfrm>
            <a:off x="1024750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0" name="Google Shape;240;p13"/>
          <p:cNvSpPr txBox="1">
            <a:spLocks noGrp="1"/>
          </p:cNvSpPr>
          <p:nvPr>
            <p:ph type="subTitle" idx="5"/>
          </p:nvPr>
        </p:nvSpPr>
        <p:spPr>
          <a:xfrm>
            <a:off x="3419221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ubTitle" idx="6"/>
          </p:nvPr>
        </p:nvSpPr>
        <p:spPr>
          <a:xfrm>
            <a:off x="5813699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 ExtraBold"/>
              <a:buNone/>
              <a:defRPr sz="2400">
                <a:latin typeface="Poppins ExtraBold"/>
                <a:ea typeface="Poppins ExtraBold"/>
                <a:cs typeface="Poppins ExtraBold"/>
                <a:sym typeface="Poppins ExtraBold"/>
              </a:defRPr>
            </a:lvl9pPr>
          </a:lstStyle>
          <a:p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 rot="10800000">
            <a:off x="-2096303" y="3730190"/>
            <a:ext cx="3010303" cy="380635"/>
            <a:chOff x="5446772" y="1743190"/>
            <a:chExt cx="3010303" cy="380635"/>
          </a:xfrm>
        </p:grpSpPr>
        <p:grpSp>
          <p:nvGrpSpPr>
            <p:cNvPr id="243" name="Google Shape;243;p13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244" name="Google Shape;244;p13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5" name="Google Shape;245;p13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6" name="Google Shape;246;p13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247" name="Google Shape;247;p13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48" name="Google Shape;248;p13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3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250" name="Google Shape;250;p13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1" name="Google Shape;251;p13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2" name="Google Shape;252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7" hasCustomPrompt="1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title" idx="8" hasCustomPrompt="1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9" hasCustomPrompt="1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3" hasCustomPrompt="1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>
            <a:spLocks noGrp="1"/>
          </p:cNvSpPr>
          <p:nvPr>
            <p:ph type="title" idx="15" hasCustomPrompt="1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2300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None/>
              <a:defRPr sz="3000" b="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259" name="Google Shape;259;p13"/>
          <p:cNvSpPr/>
          <p:nvPr/>
        </p:nvSpPr>
        <p:spPr>
          <a:xfrm rot="10800000">
            <a:off x="1316384" y="4901259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"/>
          <p:cNvSpPr/>
          <p:nvPr/>
        </p:nvSpPr>
        <p:spPr>
          <a:xfrm flipH="1">
            <a:off x="-585437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67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- Eliza Paul </a:t>
            </a:r>
            <a:r>
              <a:rPr lang="en" dirty="0" err="1"/>
              <a:t>Ganta</a:t>
            </a:r>
            <a:endParaRPr dirty="0"/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AI-Driven Automated Business Reporting Using the </a:t>
            </a:r>
            <a:r>
              <a:rPr lang="en-US" sz="2800" dirty="0" err="1"/>
              <a:t>Olist</a:t>
            </a:r>
            <a:r>
              <a:rPr lang="en-US" sz="2800" dirty="0"/>
              <a:t> E-Commerce Dataset</a:t>
            </a:r>
            <a:endParaRPr sz="28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06" name="Google Shape;806;p38"/>
          <p:cNvSpPr txBox="1">
            <a:spLocks noGrp="1"/>
          </p:cNvSpPr>
          <p:nvPr>
            <p:ph type="subTitle" idx="4"/>
          </p:nvPr>
        </p:nvSpPr>
        <p:spPr>
          <a:xfrm>
            <a:off x="1492672" y="18132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807" name="Google Shape;807;p38"/>
          <p:cNvSpPr txBox="1">
            <a:spLocks noGrp="1"/>
          </p:cNvSpPr>
          <p:nvPr>
            <p:ph type="subTitle" idx="5"/>
          </p:nvPr>
        </p:nvSpPr>
        <p:spPr>
          <a:xfrm>
            <a:off x="3899922" y="20694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Architecture</a:t>
            </a:r>
            <a:endParaRPr dirty="0"/>
          </a:p>
        </p:txBody>
      </p:sp>
      <p:sp>
        <p:nvSpPr>
          <p:cNvPr id="808" name="Google Shape;808;p38"/>
          <p:cNvSpPr txBox="1">
            <a:spLocks noGrp="1"/>
          </p:cNvSpPr>
          <p:nvPr>
            <p:ph type="subTitle" idx="1"/>
          </p:nvPr>
        </p:nvSpPr>
        <p:spPr>
          <a:xfrm>
            <a:off x="1413072" y="324780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Live Demo </a:t>
            </a:r>
            <a:endParaRPr dirty="0"/>
          </a:p>
        </p:txBody>
      </p:sp>
      <p:sp>
        <p:nvSpPr>
          <p:cNvPr id="809" name="Google Shape;809;p38"/>
          <p:cNvSpPr txBox="1">
            <a:spLocks noGrp="1"/>
          </p:cNvSpPr>
          <p:nvPr>
            <p:ph type="subTitle" idx="2"/>
          </p:nvPr>
        </p:nvSpPr>
        <p:spPr>
          <a:xfrm>
            <a:off x="3916685" y="3956559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Benefits &amp; Real-World Applications</a:t>
            </a:r>
            <a:endParaRPr dirty="0"/>
          </a:p>
        </p:txBody>
      </p:sp>
      <p:sp>
        <p:nvSpPr>
          <p:cNvPr id="810" name="Google Shape;810;p38"/>
          <p:cNvSpPr txBox="1">
            <a:spLocks noGrp="1"/>
          </p:cNvSpPr>
          <p:nvPr>
            <p:ph type="subTitle" idx="3"/>
          </p:nvPr>
        </p:nvSpPr>
        <p:spPr>
          <a:xfrm>
            <a:off x="6279185" y="3275613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811" name="Google Shape;811;p38"/>
          <p:cNvSpPr/>
          <p:nvPr/>
        </p:nvSpPr>
        <p:spPr>
          <a:xfrm>
            <a:off x="232194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38"/>
          <p:cNvGrpSpPr/>
          <p:nvPr/>
        </p:nvGrpSpPr>
        <p:grpSpPr>
          <a:xfrm>
            <a:off x="2435847" y="1343200"/>
            <a:ext cx="339200" cy="338875"/>
            <a:chOff x="2489475" y="2118450"/>
            <a:chExt cx="339200" cy="338875"/>
          </a:xfrm>
        </p:grpSpPr>
        <p:sp>
          <p:nvSpPr>
            <p:cNvPr id="813" name="Google Shape;813;p38"/>
            <p:cNvSpPr/>
            <p:nvPr/>
          </p:nvSpPr>
          <p:spPr>
            <a:xfrm>
              <a:off x="2489475" y="211845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8"/>
            <p:cNvSpPr/>
            <p:nvPr/>
          </p:nvSpPr>
          <p:spPr>
            <a:xfrm>
              <a:off x="2619450" y="2159900"/>
              <a:ext cx="79600" cy="79250"/>
            </a:xfrm>
            <a:custGeom>
              <a:avLst/>
              <a:gdLst/>
              <a:ahLst/>
              <a:cxnLst/>
              <a:rect l="l" t="t" r="r" b="b"/>
              <a:pathLst>
                <a:path w="3184" h="3170" extrusionOk="0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8"/>
            <p:cNvSpPr/>
            <p:nvPr/>
          </p:nvSpPr>
          <p:spPr>
            <a:xfrm>
              <a:off x="2560025" y="2282350"/>
              <a:ext cx="198375" cy="92325"/>
            </a:xfrm>
            <a:custGeom>
              <a:avLst/>
              <a:gdLst/>
              <a:ahLst/>
              <a:cxnLst/>
              <a:rect l="l" t="t" r="r" b="b"/>
              <a:pathLst>
                <a:path w="7935" h="3693" extrusionOk="0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16" name="Google Shape;816;p38"/>
          <p:cNvCxnSpPr>
            <a:stCxn id="817" idx="3"/>
            <a:endCxn id="811" idx="1"/>
          </p:cNvCxnSpPr>
          <p:nvPr/>
        </p:nvCxnSpPr>
        <p:spPr>
          <a:xfrm>
            <a:off x="2017150" y="151265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8" name="Google Shape;818;p38"/>
          <p:cNvSpPr/>
          <p:nvPr/>
        </p:nvSpPr>
        <p:spPr>
          <a:xfrm>
            <a:off x="4716422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9" name="Google Shape;819;p38"/>
          <p:cNvCxnSpPr>
            <a:stCxn id="820" idx="3"/>
            <a:endCxn id="818" idx="1"/>
          </p:cNvCxnSpPr>
          <p:nvPr/>
        </p:nvCxnSpPr>
        <p:spPr>
          <a:xfrm>
            <a:off x="4411625" y="1512651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1" name="Google Shape;821;p38"/>
          <p:cNvSpPr/>
          <p:nvPr/>
        </p:nvSpPr>
        <p:spPr>
          <a:xfrm>
            <a:off x="7110897" y="122913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38"/>
          <p:cNvSpPr/>
          <p:nvPr/>
        </p:nvSpPr>
        <p:spPr>
          <a:xfrm>
            <a:off x="2321947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3" name="Google Shape;823;p38"/>
          <p:cNvCxnSpPr>
            <a:stCxn id="824" idx="3"/>
            <a:endCxn id="822" idx="1"/>
          </p:cNvCxnSpPr>
          <p:nvPr/>
        </p:nvCxnSpPr>
        <p:spPr>
          <a:xfrm>
            <a:off x="2017200" y="2958200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5" name="Google Shape;825;p38"/>
          <p:cNvSpPr/>
          <p:nvPr/>
        </p:nvSpPr>
        <p:spPr>
          <a:xfrm>
            <a:off x="4716422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26" name="Google Shape;826;p38"/>
          <p:cNvCxnSpPr>
            <a:stCxn id="827" idx="3"/>
            <a:endCxn id="825" idx="1"/>
          </p:cNvCxnSpPr>
          <p:nvPr/>
        </p:nvCxnSpPr>
        <p:spPr>
          <a:xfrm>
            <a:off x="4411625" y="2958199"/>
            <a:ext cx="304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28" name="Google Shape;828;p38"/>
          <p:cNvSpPr/>
          <p:nvPr/>
        </p:nvSpPr>
        <p:spPr>
          <a:xfrm>
            <a:off x="7110897" y="2674688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8"/>
          <p:cNvSpPr txBox="1">
            <a:spLocks noGrp="1"/>
          </p:cNvSpPr>
          <p:nvPr>
            <p:ph type="subTitle" idx="6"/>
          </p:nvPr>
        </p:nvSpPr>
        <p:spPr>
          <a:xfrm>
            <a:off x="6257735" y="17961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</a:t>
            </a:r>
            <a:r>
              <a:rPr lang="en-US" dirty="0"/>
              <a:t>e</a:t>
            </a:r>
            <a:r>
              <a:rPr lang="en" dirty="0"/>
              <a:t>y Insights</a:t>
            </a:r>
            <a:endParaRPr dirty="0"/>
          </a:p>
        </p:txBody>
      </p:sp>
      <p:grpSp>
        <p:nvGrpSpPr>
          <p:cNvPr id="830" name="Google Shape;830;p38"/>
          <p:cNvGrpSpPr/>
          <p:nvPr/>
        </p:nvGrpSpPr>
        <p:grpSpPr>
          <a:xfrm>
            <a:off x="7224810" y="2788763"/>
            <a:ext cx="339200" cy="338875"/>
            <a:chOff x="4016825" y="3801400"/>
            <a:chExt cx="339200" cy="338875"/>
          </a:xfrm>
        </p:grpSpPr>
        <p:sp>
          <p:nvSpPr>
            <p:cNvPr id="831" name="Google Shape;831;p38"/>
            <p:cNvSpPr/>
            <p:nvPr/>
          </p:nvSpPr>
          <p:spPr>
            <a:xfrm>
              <a:off x="4016825" y="380140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10125" y="525"/>
                  </a:moveTo>
                  <a:lnTo>
                    <a:pt x="10125" y="4233"/>
                  </a:lnTo>
                  <a:lnTo>
                    <a:pt x="8767" y="4233"/>
                  </a:lnTo>
                  <a:cubicBezTo>
                    <a:pt x="8701" y="4233"/>
                    <a:pt x="8645" y="4259"/>
                    <a:pt x="8588" y="4316"/>
                  </a:cubicBezTo>
                  <a:lnTo>
                    <a:pt x="8133" y="4771"/>
                  </a:lnTo>
                  <a:lnTo>
                    <a:pt x="7675" y="4316"/>
                  </a:lnTo>
                  <a:cubicBezTo>
                    <a:pt x="7635" y="4259"/>
                    <a:pt x="7566" y="4233"/>
                    <a:pt x="7496" y="4233"/>
                  </a:cubicBezTo>
                  <a:lnTo>
                    <a:pt x="6155" y="4233"/>
                  </a:lnTo>
                  <a:lnTo>
                    <a:pt x="6155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8" y="10650"/>
                  </a:lnTo>
                  <a:lnTo>
                    <a:pt x="2128" y="4024"/>
                  </a:lnTo>
                  <a:lnTo>
                    <a:pt x="5614" y="4024"/>
                  </a:lnTo>
                  <a:lnTo>
                    <a:pt x="5614" y="4233"/>
                  </a:lnTo>
                  <a:cubicBezTo>
                    <a:pt x="5614" y="4522"/>
                    <a:pt x="5850" y="4771"/>
                    <a:pt x="6155" y="4771"/>
                  </a:cubicBezTo>
                  <a:lnTo>
                    <a:pt x="7386" y="4771"/>
                  </a:lnTo>
                  <a:lnTo>
                    <a:pt x="7758" y="5146"/>
                  </a:lnTo>
                  <a:cubicBezTo>
                    <a:pt x="7855" y="5242"/>
                    <a:pt x="7994" y="5298"/>
                    <a:pt x="8133" y="5298"/>
                  </a:cubicBezTo>
                  <a:cubicBezTo>
                    <a:pt x="8270" y="5298"/>
                    <a:pt x="8409" y="5242"/>
                    <a:pt x="8505" y="5146"/>
                  </a:cubicBezTo>
                  <a:lnTo>
                    <a:pt x="8880" y="4771"/>
                  </a:lnTo>
                  <a:lnTo>
                    <a:pt x="10125" y="4771"/>
                  </a:lnTo>
                  <a:cubicBezTo>
                    <a:pt x="10414" y="4771"/>
                    <a:pt x="10650" y="4522"/>
                    <a:pt x="10650" y="4233"/>
                  </a:cubicBezTo>
                  <a:lnTo>
                    <a:pt x="10650" y="4024"/>
                  </a:lnTo>
                  <a:close/>
                  <a:moveTo>
                    <a:pt x="12240" y="2961"/>
                  </a:moveTo>
                  <a:cubicBezTo>
                    <a:pt x="12392" y="2961"/>
                    <a:pt x="12502" y="3084"/>
                    <a:pt x="12502" y="3224"/>
                  </a:cubicBezTo>
                  <a:lnTo>
                    <a:pt x="12502" y="11702"/>
                  </a:lnTo>
                  <a:lnTo>
                    <a:pt x="8369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4" y="11964"/>
                  </a:lnTo>
                  <a:cubicBezTo>
                    <a:pt x="5464" y="11825"/>
                    <a:pt x="5338" y="11702"/>
                    <a:pt x="5199" y="11702"/>
                  </a:cubicBezTo>
                  <a:lnTo>
                    <a:pt x="1066" y="11702"/>
                  </a:lnTo>
                  <a:lnTo>
                    <a:pt x="1066" y="3224"/>
                  </a:lnTo>
                  <a:cubicBezTo>
                    <a:pt x="1066" y="3084"/>
                    <a:pt x="1176" y="2961"/>
                    <a:pt x="1328" y="2961"/>
                  </a:cubicBezTo>
                  <a:lnTo>
                    <a:pt x="5614" y="2961"/>
                  </a:lnTo>
                  <a:lnTo>
                    <a:pt x="5614" y="3499"/>
                  </a:lnTo>
                  <a:lnTo>
                    <a:pt x="1853" y="3499"/>
                  </a:lnTo>
                  <a:cubicBezTo>
                    <a:pt x="1713" y="3499"/>
                    <a:pt x="1590" y="3609"/>
                    <a:pt x="1590" y="3761"/>
                  </a:cubicBezTo>
                  <a:lnTo>
                    <a:pt x="1590" y="10912"/>
                  </a:lnTo>
                  <a:cubicBezTo>
                    <a:pt x="1590" y="11051"/>
                    <a:pt x="1713" y="11177"/>
                    <a:pt x="1853" y="11177"/>
                  </a:cubicBezTo>
                  <a:lnTo>
                    <a:pt x="11715" y="11177"/>
                  </a:lnTo>
                  <a:cubicBezTo>
                    <a:pt x="11855" y="11177"/>
                    <a:pt x="11977" y="11051"/>
                    <a:pt x="11977" y="10912"/>
                  </a:cubicBezTo>
                  <a:lnTo>
                    <a:pt x="11977" y="3761"/>
                  </a:lnTo>
                  <a:cubicBezTo>
                    <a:pt x="11977" y="3609"/>
                    <a:pt x="11855" y="3499"/>
                    <a:pt x="11715" y="3499"/>
                  </a:cubicBezTo>
                  <a:lnTo>
                    <a:pt x="10650" y="3499"/>
                  </a:lnTo>
                  <a:lnTo>
                    <a:pt x="10650" y="2961"/>
                  </a:lnTo>
                  <a:close/>
                  <a:moveTo>
                    <a:pt x="13030" y="12240"/>
                  </a:moveTo>
                  <a:lnTo>
                    <a:pt x="13030" y="12767"/>
                  </a:lnTo>
                  <a:cubicBezTo>
                    <a:pt x="13030" y="12904"/>
                    <a:pt x="12917" y="13030"/>
                    <a:pt x="12768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240"/>
                  </a:lnTo>
                  <a:lnTo>
                    <a:pt x="5006" y="12240"/>
                  </a:lnTo>
                  <a:cubicBezTo>
                    <a:pt x="5089" y="12392"/>
                    <a:pt x="5269" y="12505"/>
                    <a:pt x="5464" y="12505"/>
                  </a:cubicBezTo>
                  <a:lnTo>
                    <a:pt x="8104" y="12505"/>
                  </a:lnTo>
                  <a:cubicBezTo>
                    <a:pt x="8299" y="12505"/>
                    <a:pt x="8479" y="12392"/>
                    <a:pt x="8562" y="12240"/>
                  </a:cubicBezTo>
                  <a:close/>
                  <a:moveTo>
                    <a:pt x="6155" y="0"/>
                  </a:moveTo>
                  <a:cubicBezTo>
                    <a:pt x="5850" y="0"/>
                    <a:pt x="5614" y="236"/>
                    <a:pt x="5614" y="525"/>
                  </a:cubicBezTo>
                  <a:lnTo>
                    <a:pt x="5614" y="2434"/>
                  </a:lnTo>
                  <a:lnTo>
                    <a:pt x="1328" y="2434"/>
                  </a:lnTo>
                  <a:cubicBezTo>
                    <a:pt x="883" y="2434"/>
                    <a:pt x="538" y="2795"/>
                    <a:pt x="538" y="3224"/>
                  </a:cubicBezTo>
                  <a:lnTo>
                    <a:pt x="538" y="11702"/>
                  </a:lnTo>
                  <a:lnTo>
                    <a:pt x="263" y="11702"/>
                  </a:lnTo>
                  <a:cubicBezTo>
                    <a:pt x="123" y="11702"/>
                    <a:pt x="0" y="11825"/>
                    <a:pt x="0" y="11964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12768" y="13554"/>
                  </a:lnTo>
                  <a:cubicBezTo>
                    <a:pt x="13209" y="13554"/>
                    <a:pt x="13568" y="13209"/>
                    <a:pt x="13568" y="12767"/>
                  </a:cubicBezTo>
                  <a:lnTo>
                    <a:pt x="13568" y="11964"/>
                  </a:lnTo>
                  <a:cubicBezTo>
                    <a:pt x="13568" y="11825"/>
                    <a:pt x="13445" y="11702"/>
                    <a:pt x="13305" y="11702"/>
                  </a:cubicBezTo>
                  <a:lnTo>
                    <a:pt x="13030" y="11702"/>
                  </a:lnTo>
                  <a:lnTo>
                    <a:pt x="13030" y="3224"/>
                  </a:lnTo>
                  <a:cubicBezTo>
                    <a:pt x="13030" y="2795"/>
                    <a:pt x="12685" y="2434"/>
                    <a:pt x="12240" y="2434"/>
                  </a:cubicBezTo>
                  <a:lnTo>
                    <a:pt x="10650" y="2434"/>
                  </a:lnTo>
                  <a:lnTo>
                    <a:pt x="10650" y="525"/>
                  </a:lnTo>
                  <a:cubicBezTo>
                    <a:pt x="10650" y="236"/>
                    <a:pt x="10414" y="0"/>
                    <a:pt x="10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8"/>
            <p:cNvSpPr/>
            <p:nvPr/>
          </p:nvSpPr>
          <p:spPr>
            <a:xfrm>
              <a:off x="4186625" y="3828025"/>
              <a:ext cx="67000" cy="66150"/>
            </a:xfrm>
            <a:custGeom>
              <a:avLst/>
              <a:gdLst/>
              <a:ahLst/>
              <a:cxnLst/>
              <a:rect l="l" t="t" r="r" b="b"/>
              <a:pathLst>
                <a:path w="2680" h="2646" extrusionOk="0">
                  <a:moveTo>
                    <a:pt x="1617" y="525"/>
                  </a:moveTo>
                  <a:cubicBezTo>
                    <a:pt x="1909" y="525"/>
                    <a:pt x="2141" y="761"/>
                    <a:pt x="2141" y="1067"/>
                  </a:cubicBezTo>
                  <a:cubicBezTo>
                    <a:pt x="2128" y="1412"/>
                    <a:pt x="1869" y="1584"/>
                    <a:pt x="1610" y="1584"/>
                  </a:cubicBezTo>
                  <a:cubicBezTo>
                    <a:pt x="1351" y="1584"/>
                    <a:pt x="1092" y="1412"/>
                    <a:pt x="1079" y="1067"/>
                  </a:cubicBezTo>
                  <a:cubicBezTo>
                    <a:pt x="1079" y="761"/>
                    <a:pt x="1312" y="525"/>
                    <a:pt x="1617" y="525"/>
                  </a:cubicBezTo>
                  <a:close/>
                  <a:moveTo>
                    <a:pt x="1600" y="1"/>
                  </a:moveTo>
                  <a:cubicBezTo>
                    <a:pt x="793" y="1"/>
                    <a:pt x="279" y="919"/>
                    <a:pt x="704" y="1604"/>
                  </a:cubicBezTo>
                  <a:lnTo>
                    <a:pt x="97" y="2199"/>
                  </a:lnTo>
                  <a:cubicBezTo>
                    <a:pt x="0" y="2295"/>
                    <a:pt x="0" y="2461"/>
                    <a:pt x="97" y="2574"/>
                  </a:cubicBezTo>
                  <a:cubicBezTo>
                    <a:pt x="151" y="2622"/>
                    <a:pt x="220" y="2646"/>
                    <a:pt x="287" y="2646"/>
                  </a:cubicBezTo>
                  <a:cubicBezTo>
                    <a:pt x="355" y="2646"/>
                    <a:pt x="420" y="2622"/>
                    <a:pt x="468" y="2574"/>
                  </a:cubicBezTo>
                  <a:lnTo>
                    <a:pt x="1079" y="1979"/>
                  </a:lnTo>
                  <a:cubicBezTo>
                    <a:pt x="1242" y="2079"/>
                    <a:pt x="1420" y="2125"/>
                    <a:pt x="1595" y="2125"/>
                  </a:cubicBezTo>
                  <a:cubicBezTo>
                    <a:pt x="2148" y="2125"/>
                    <a:pt x="2679" y="1674"/>
                    <a:pt x="2669" y="1067"/>
                  </a:cubicBezTo>
                  <a:cubicBezTo>
                    <a:pt x="2669" y="469"/>
                    <a:pt x="2198" y="1"/>
                    <a:pt x="1617" y="1"/>
                  </a:cubicBezTo>
                  <a:cubicBezTo>
                    <a:pt x="1611" y="1"/>
                    <a:pt x="1605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8"/>
            <p:cNvSpPr/>
            <p:nvPr/>
          </p:nvSpPr>
          <p:spPr>
            <a:xfrm>
              <a:off x="4083225" y="3928100"/>
              <a:ext cx="119275" cy="126100"/>
            </a:xfrm>
            <a:custGeom>
              <a:avLst/>
              <a:gdLst/>
              <a:ahLst/>
              <a:cxnLst/>
              <a:rect l="l" t="t" r="r" b="b"/>
              <a:pathLst>
                <a:path w="4771" h="5044" extrusionOk="0">
                  <a:moveTo>
                    <a:pt x="2390" y="541"/>
                  </a:moveTo>
                  <a:cubicBezTo>
                    <a:pt x="3188" y="541"/>
                    <a:pt x="3984" y="672"/>
                    <a:pt x="4233" y="934"/>
                  </a:cubicBezTo>
                  <a:cubicBezTo>
                    <a:pt x="3977" y="1190"/>
                    <a:pt x="3178" y="1318"/>
                    <a:pt x="2380" y="1318"/>
                  </a:cubicBezTo>
                  <a:cubicBezTo>
                    <a:pt x="1583" y="1318"/>
                    <a:pt x="787" y="1190"/>
                    <a:pt x="538" y="934"/>
                  </a:cubicBezTo>
                  <a:cubicBezTo>
                    <a:pt x="793" y="672"/>
                    <a:pt x="1593" y="541"/>
                    <a:pt x="2390" y="541"/>
                  </a:cubicBezTo>
                  <a:close/>
                  <a:moveTo>
                    <a:pt x="4233" y="1545"/>
                  </a:moveTo>
                  <a:lnTo>
                    <a:pt x="4233" y="1986"/>
                  </a:lnTo>
                  <a:cubicBezTo>
                    <a:pt x="3997" y="2249"/>
                    <a:pt x="3188" y="2380"/>
                    <a:pt x="2379" y="2380"/>
                  </a:cubicBezTo>
                  <a:cubicBezTo>
                    <a:pt x="1569" y="2380"/>
                    <a:pt x="760" y="2249"/>
                    <a:pt x="525" y="1986"/>
                  </a:cubicBezTo>
                  <a:lnTo>
                    <a:pt x="525" y="1545"/>
                  </a:lnTo>
                  <a:cubicBezTo>
                    <a:pt x="1057" y="1759"/>
                    <a:pt x="1721" y="1866"/>
                    <a:pt x="2384" y="1866"/>
                  </a:cubicBezTo>
                  <a:cubicBezTo>
                    <a:pt x="3046" y="1866"/>
                    <a:pt x="3706" y="1759"/>
                    <a:pt x="4233" y="1545"/>
                  </a:cubicBezTo>
                  <a:close/>
                  <a:moveTo>
                    <a:pt x="4233" y="2607"/>
                  </a:moveTo>
                  <a:lnTo>
                    <a:pt x="4233" y="3039"/>
                  </a:lnTo>
                  <a:cubicBezTo>
                    <a:pt x="3997" y="3308"/>
                    <a:pt x="3188" y="3442"/>
                    <a:pt x="2379" y="3442"/>
                  </a:cubicBezTo>
                  <a:cubicBezTo>
                    <a:pt x="1569" y="3442"/>
                    <a:pt x="760" y="3308"/>
                    <a:pt x="525" y="3039"/>
                  </a:cubicBezTo>
                  <a:lnTo>
                    <a:pt x="525" y="2607"/>
                  </a:lnTo>
                  <a:cubicBezTo>
                    <a:pt x="1057" y="2815"/>
                    <a:pt x="1721" y="2918"/>
                    <a:pt x="2384" y="2918"/>
                  </a:cubicBezTo>
                  <a:cubicBezTo>
                    <a:pt x="3046" y="2918"/>
                    <a:pt x="3706" y="2815"/>
                    <a:pt x="4233" y="2607"/>
                  </a:cubicBezTo>
                  <a:close/>
                  <a:moveTo>
                    <a:pt x="4233" y="3673"/>
                  </a:moveTo>
                  <a:lnTo>
                    <a:pt x="4233" y="4101"/>
                  </a:lnTo>
                  <a:cubicBezTo>
                    <a:pt x="4163" y="4214"/>
                    <a:pt x="3539" y="4503"/>
                    <a:pt x="2377" y="4503"/>
                  </a:cubicBezTo>
                  <a:cubicBezTo>
                    <a:pt x="1215" y="4503"/>
                    <a:pt x="594" y="4214"/>
                    <a:pt x="525" y="4101"/>
                  </a:cubicBezTo>
                  <a:lnTo>
                    <a:pt x="525" y="3673"/>
                  </a:lnTo>
                  <a:cubicBezTo>
                    <a:pt x="1057" y="3880"/>
                    <a:pt x="1721" y="3984"/>
                    <a:pt x="2384" y="3984"/>
                  </a:cubicBezTo>
                  <a:cubicBezTo>
                    <a:pt x="3046" y="3984"/>
                    <a:pt x="3706" y="3880"/>
                    <a:pt x="4233" y="3673"/>
                  </a:cubicBezTo>
                  <a:close/>
                  <a:moveTo>
                    <a:pt x="2380" y="1"/>
                  </a:moveTo>
                  <a:cubicBezTo>
                    <a:pt x="1189" y="1"/>
                    <a:pt x="0" y="312"/>
                    <a:pt x="0" y="934"/>
                  </a:cubicBezTo>
                  <a:lnTo>
                    <a:pt x="0" y="4101"/>
                  </a:lnTo>
                  <a:cubicBezTo>
                    <a:pt x="0" y="4835"/>
                    <a:pt x="1494" y="5044"/>
                    <a:pt x="2377" y="5044"/>
                  </a:cubicBezTo>
                  <a:cubicBezTo>
                    <a:pt x="3263" y="5044"/>
                    <a:pt x="4770" y="4835"/>
                    <a:pt x="4770" y="4101"/>
                  </a:cubicBezTo>
                  <a:lnTo>
                    <a:pt x="4770" y="934"/>
                  </a:lnTo>
                  <a:cubicBezTo>
                    <a:pt x="4764" y="312"/>
                    <a:pt x="3571" y="1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8"/>
            <p:cNvSpPr/>
            <p:nvPr/>
          </p:nvSpPr>
          <p:spPr>
            <a:xfrm>
              <a:off x="4216325" y="4024400"/>
              <a:ext cx="67425" cy="13200"/>
            </a:xfrm>
            <a:custGeom>
              <a:avLst/>
              <a:gdLst/>
              <a:ahLst/>
              <a:cxnLst/>
              <a:rect l="l" t="t" r="r" b="b"/>
              <a:pathLst>
                <a:path w="2697" h="528" extrusionOk="0">
                  <a:moveTo>
                    <a:pt x="346" y="0"/>
                  </a:moveTo>
                  <a:cubicBezTo>
                    <a:pt x="1" y="17"/>
                    <a:pt x="1" y="528"/>
                    <a:pt x="346" y="528"/>
                  </a:cubicBezTo>
                  <a:lnTo>
                    <a:pt x="2407" y="528"/>
                  </a:lnTo>
                  <a:cubicBezTo>
                    <a:pt x="2530" y="528"/>
                    <a:pt x="2656" y="445"/>
                    <a:pt x="2670" y="305"/>
                  </a:cubicBezTo>
                  <a:cubicBezTo>
                    <a:pt x="2696" y="140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8"/>
            <p:cNvSpPr/>
            <p:nvPr/>
          </p:nvSpPr>
          <p:spPr>
            <a:xfrm>
              <a:off x="4216325" y="399817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0"/>
                  </a:moveTo>
                  <a:cubicBezTo>
                    <a:pt x="1" y="0"/>
                    <a:pt x="1" y="511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8"/>
                    <a:pt x="2670" y="302"/>
                  </a:cubicBezTo>
                  <a:cubicBezTo>
                    <a:pt x="2696" y="136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8"/>
            <p:cNvSpPr/>
            <p:nvPr/>
          </p:nvSpPr>
          <p:spPr>
            <a:xfrm>
              <a:off x="4216325" y="397152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9"/>
                    <a:pt x="2670" y="306"/>
                  </a:cubicBezTo>
                  <a:cubicBezTo>
                    <a:pt x="2696" y="140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8"/>
            <p:cNvSpPr/>
            <p:nvPr/>
          </p:nvSpPr>
          <p:spPr>
            <a:xfrm>
              <a:off x="4216325" y="3944875"/>
              <a:ext cx="67425" cy="13575"/>
            </a:xfrm>
            <a:custGeom>
              <a:avLst/>
              <a:gdLst/>
              <a:ahLst/>
              <a:cxnLst/>
              <a:rect l="l" t="t" r="r" b="b"/>
              <a:pathLst>
                <a:path w="2697" h="543" extrusionOk="0">
                  <a:moveTo>
                    <a:pt x="346" y="1"/>
                  </a:moveTo>
                  <a:cubicBezTo>
                    <a:pt x="1" y="14"/>
                    <a:pt x="1" y="525"/>
                    <a:pt x="346" y="542"/>
                  </a:cubicBezTo>
                  <a:lnTo>
                    <a:pt x="2407" y="542"/>
                  </a:lnTo>
                  <a:cubicBezTo>
                    <a:pt x="2530" y="542"/>
                    <a:pt x="2656" y="442"/>
                    <a:pt x="2670" y="306"/>
                  </a:cubicBezTo>
                  <a:cubicBezTo>
                    <a:pt x="2696" y="154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8" name="Google Shape;838;p38"/>
          <p:cNvGrpSpPr/>
          <p:nvPr/>
        </p:nvGrpSpPr>
        <p:grpSpPr>
          <a:xfrm>
            <a:off x="4863535" y="2788538"/>
            <a:ext cx="272800" cy="339300"/>
            <a:chOff x="4108450" y="3256400"/>
            <a:chExt cx="272800" cy="339300"/>
          </a:xfrm>
        </p:grpSpPr>
        <p:sp>
          <p:nvSpPr>
            <p:cNvPr id="839" name="Google Shape;839;p38"/>
            <p:cNvSpPr/>
            <p:nvPr/>
          </p:nvSpPr>
          <p:spPr>
            <a:xfrm>
              <a:off x="4108450" y="3256400"/>
              <a:ext cx="272800" cy="339300"/>
            </a:xfrm>
            <a:custGeom>
              <a:avLst/>
              <a:gdLst/>
              <a:ahLst/>
              <a:cxnLst/>
              <a:rect l="l" t="t" r="r" b="b"/>
              <a:pathLst>
                <a:path w="10912" h="13572" extrusionOk="0">
                  <a:moveTo>
                    <a:pt x="8714" y="817"/>
                  </a:moveTo>
                  <a:lnTo>
                    <a:pt x="10069" y="2172"/>
                  </a:lnTo>
                  <a:lnTo>
                    <a:pt x="8714" y="2172"/>
                  </a:lnTo>
                  <a:lnTo>
                    <a:pt x="8714" y="817"/>
                  </a:lnTo>
                  <a:close/>
                  <a:moveTo>
                    <a:pt x="8190" y="1564"/>
                  </a:moveTo>
                  <a:lnTo>
                    <a:pt x="8190" y="2451"/>
                  </a:lnTo>
                  <a:cubicBezTo>
                    <a:pt x="8190" y="2587"/>
                    <a:pt x="8299" y="2713"/>
                    <a:pt x="8452" y="2713"/>
                  </a:cubicBezTo>
                  <a:lnTo>
                    <a:pt x="9322" y="2713"/>
                  </a:lnTo>
                  <a:lnTo>
                    <a:pt x="9322" y="10570"/>
                  </a:lnTo>
                  <a:lnTo>
                    <a:pt x="2961" y="10570"/>
                  </a:lnTo>
                  <a:lnTo>
                    <a:pt x="2961" y="1564"/>
                  </a:lnTo>
                  <a:close/>
                  <a:moveTo>
                    <a:pt x="8190" y="542"/>
                  </a:moveTo>
                  <a:lnTo>
                    <a:pt x="8190" y="1066"/>
                  </a:lnTo>
                  <a:lnTo>
                    <a:pt x="2696" y="1066"/>
                  </a:lnTo>
                  <a:cubicBezTo>
                    <a:pt x="2560" y="1066"/>
                    <a:pt x="2433" y="1192"/>
                    <a:pt x="2433" y="1329"/>
                  </a:cubicBezTo>
                  <a:lnTo>
                    <a:pt x="2433" y="10846"/>
                  </a:lnTo>
                  <a:cubicBezTo>
                    <a:pt x="2433" y="10985"/>
                    <a:pt x="2560" y="11108"/>
                    <a:pt x="2696" y="11108"/>
                  </a:cubicBezTo>
                  <a:lnTo>
                    <a:pt x="9584" y="11108"/>
                  </a:lnTo>
                  <a:cubicBezTo>
                    <a:pt x="9737" y="11108"/>
                    <a:pt x="9849" y="10985"/>
                    <a:pt x="9849" y="10846"/>
                  </a:cubicBezTo>
                  <a:lnTo>
                    <a:pt x="9849" y="2713"/>
                  </a:lnTo>
                  <a:lnTo>
                    <a:pt x="10387" y="2713"/>
                  </a:lnTo>
                  <a:lnTo>
                    <a:pt x="10387" y="11633"/>
                  </a:lnTo>
                  <a:lnTo>
                    <a:pt x="1909" y="11633"/>
                  </a:lnTo>
                  <a:lnTo>
                    <a:pt x="1909" y="542"/>
                  </a:lnTo>
                  <a:close/>
                  <a:moveTo>
                    <a:pt x="1368" y="1909"/>
                  </a:moveTo>
                  <a:lnTo>
                    <a:pt x="1368" y="11925"/>
                  </a:lnTo>
                  <a:cubicBezTo>
                    <a:pt x="1368" y="12077"/>
                    <a:pt x="1494" y="12187"/>
                    <a:pt x="1647" y="12187"/>
                  </a:cubicBezTo>
                  <a:lnTo>
                    <a:pt x="9003" y="12187"/>
                  </a:lnTo>
                  <a:lnTo>
                    <a:pt x="9003" y="13043"/>
                  </a:lnTo>
                  <a:lnTo>
                    <a:pt x="525" y="13043"/>
                  </a:lnTo>
                  <a:lnTo>
                    <a:pt x="525" y="1909"/>
                  </a:lnTo>
                  <a:close/>
                  <a:moveTo>
                    <a:pt x="1647" y="1"/>
                  </a:moveTo>
                  <a:cubicBezTo>
                    <a:pt x="1494" y="1"/>
                    <a:pt x="1368" y="127"/>
                    <a:pt x="1368" y="280"/>
                  </a:cubicBezTo>
                  <a:lnTo>
                    <a:pt x="1368" y="1385"/>
                  </a:lnTo>
                  <a:lnTo>
                    <a:pt x="262" y="1385"/>
                  </a:lnTo>
                  <a:cubicBezTo>
                    <a:pt x="110" y="1385"/>
                    <a:pt x="0" y="1508"/>
                    <a:pt x="0" y="1647"/>
                  </a:cubicBezTo>
                  <a:lnTo>
                    <a:pt x="0" y="13309"/>
                  </a:lnTo>
                  <a:cubicBezTo>
                    <a:pt x="0" y="13445"/>
                    <a:pt x="110" y="13571"/>
                    <a:pt x="262" y="13571"/>
                  </a:cubicBezTo>
                  <a:lnTo>
                    <a:pt x="9269" y="13571"/>
                  </a:lnTo>
                  <a:cubicBezTo>
                    <a:pt x="9418" y="13571"/>
                    <a:pt x="9531" y="13445"/>
                    <a:pt x="9531" y="13309"/>
                  </a:cubicBezTo>
                  <a:lnTo>
                    <a:pt x="9531" y="12187"/>
                  </a:lnTo>
                  <a:lnTo>
                    <a:pt x="10829" y="12187"/>
                  </a:lnTo>
                  <a:cubicBezTo>
                    <a:pt x="10872" y="12187"/>
                    <a:pt x="10912" y="12160"/>
                    <a:pt x="10912" y="12117"/>
                  </a:cubicBezTo>
                  <a:lnTo>
                    <a:pt x="10912" y="2228"/>
                  </a:lnTo>
                  <a:cubicBezTo>
                    <a:pt x="10912" y="2215"/>
                    <a:pt x="10898" y="2202"/>
                    <a:pt x="10885" y="2202"/>
                  </a:cubicBezTo>
                  <a:lnTo>
                    <a:pt x="10829" y="2202"/>
                  </a:lnTo>
                  <a:lnTo>
                    <a:pt x="8714" y="84"/>
                  </a:lnTo>
                  <a:cubicBezTo>
                    <a:pt x="8658" y="31"/>
                    <a:pt x="8605" y="1"/>
                    <a:pt x="85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8"/>
            <p:cNvSpPr/>
            <p:nvPr/>
          </p:nvSpPr>
          <p:spPr>
            <a:xfrm>
              <a:off x="4268525" y="3324075"/>
              <a:ext cx="59525" cy="59650"/>
            </a:xfrm>
            <a:custGeom>
              <a:avLst/>
              <a:gdLst/>
              <a:ahLst/>
              <a:cxnLst/>
              <a:rect l="l" t="t" r="r" b="b"/>
              <a:pathLst>
                <a:path w="2381" h="2386" extrusionOk="0">
                  <a:moveTo>
                    <a:pt x="542" y="560"/>
                  </a:moveTo>
                  <a:cubicBezTo>
                    <a:pt x="1189" y="670"/>
                    <a:pt x="1717" y="1194"/>
                    <a:pt x="1826" y="1858"/>
                  </a:cubicBezTo>
                  <a:lnTo>
                    <a:pt x="542" y="1858"/>
                  </a:lnTo>
                  <a:lnTo>
                    <a:pt x="542" y="560"/>
                  </a:lnTo>
                  <a:close/>
                  <a:moveTo>
                    <a:pt x="213" y="1"/>
                  </a:moveTo>
                  <a:cubicBezTo>
                    <a:pt x="97" y="1"/>
                    <a:pt x="1" y="81"/>
                    <a:pt x="1" y="212"/>
                  </a:cubicBezTo>
                  <a:lnTo>
                    <a:pt x="1" y="2120"/>
                  </a:lnTo>
                  <a:cubicBezTo>
                    <a:pt x="1" y="2260"/>
                    <a:pt x="127" y="2386"/>
                    <a:pt x="263" y="2386"/>
                  </a:cubicBezTo>
                  <a:lnTo>
                    <a:pt x="2119" y="2386"/>
                  </a:lnTo>
                  <a:cubicBezTo>
                    <a:pt x="2268" y="2386"/>
                    <a:pt x="2381" y="2260"/>
                    <a:pt x="2381" y="2120"/>
                  </a:cubicBezTo>
                  <a:cubicBezTo>
                    <a:pt x="2381" y="959"/>
                    <a:pt x="1438" y="6"/>
                    <a:pt x="263" y="6"/>
                  </a:cubicBezTo>
                  <a:cubicBezTo>
                    <a:pt x="246" y="3"/>
                    <a:pt x="229" y="1"/>
                    <a:pt x="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8"/>
            <p:cNvSpPr/>
            <p:nvPr/>
          </p:nvSpPr>
          <p:spPr>
            <a:xfrm>
              <a:off x="4178650" y="3350850"/>
              <a:ext cx="123100" cy="105500"/>
            </a:xfrm>
            <a:custGeom>
              <a:avLst/>
              <a:gdLst/>
              <a:ahLst/>
              <a:cxnLst/>
              <a:rect l="l" t="t" r="r" b="b"/>
              <a:pathLst>
                <a:path w="4924" h="4220" extrusionOk="0">
                  <a:moveTo>
                    <a:pt x="2543" y="551"/>
                  </a:moveTo>
                  <a:lnTo>
                    <a:pt x="2543" y="1962"/>
                  </a:lnTo>
                  <a:lnTo>
                    <a:pt x="1328" y="2669"/>
                  </a:lnTo>
                  <a:cubicBezTo>
                    <a:pt x="967" y="1756"/>
                    <a:pt x="1591" y="704"/>
                    <a:pt x="2543" y="551"/>
                  </a:cubicBezTo>
                  <a:close/>
                  <a:moveTo>
                    <a:pt x="4356" y="2377"/>
                  </a:moveTo>
                  <a:cubicBezTo>
                    <a:pt x="4286" y="2752"/>
                    <a:pt x="4094" y="3084"/>
                    <a:pt x="3805" y="3333"/>
                  </a:cubicBezTo>
                  <a:lnTo>
                    <a:pt x="3250" y="2377"/>
                  </a:lnTo>
                  <a:close/>
                  <a:moveTo>
                    <a:pt x="2696" y="2477"/>
                  </a:moveTo>
                  <a:lnTo>
                    <a:pt x="3347" y="3609"/>
                  </a:lnTo>
                  <a:cubicBezTo>
                    <a:pt x="3182" y="3673"/>
                    <a:pt x="3004" y="3703"/>
                    <a:pt x="2825" y="3703"/>
                  </a:cubicBezTo>
                  <a:cubicBezTo>
                    <a:pt x="2346" y="3703"/>
                    <a:pt x="1858" y="3487"/>
                    <a:pt x="1577" y="3124"/>
                  </a:cubicBezTo>
                  <a:lnTo>
                    <a:pt x="2696" y="2477"/>
                  </a:lnTo>
                  <a:close/>
                  <a:moveTo>
                    <a:pt x="2809" y="0"/>
                  </a:moveTo>
                  <a:cubicBezTo>
                    <a:pt x="1" y="97"/>
                    <a:pt x="14" y="4120"/>
                    <a:pt x="2809" y="4220"/>
                  </a:cubicBezTo>
                  <a:cubicBezTo>
                    <a:pt x="3971" y="4220"/>
                    <a:pt x="4924" y="3277"/>
                    <a:pt x="4924" y="2115"/>
                  </a:cubicBezTo>
                  <a:cubicBezTo>
                    <a:pt x="4924" y="1962"/>
                    <a:pt x="4801" y="1839"/>
                    <a:pt x="4648" y="1839"/>
                  </a:cubicBezTo>
                  <a:lnTo>
                    <a:pt x="3071" y="1839"/>
                  </a:lnTo>
                  <a:lnTo>
                    <a:pt x="3071" y="263"/>
                  </a:lnTo>
                  <a:cubicBezTo>
                    <a:pt x="3071" y="110"/>
                    <a:pt x="2945" y="0"/>
                    <a:pt x="2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8"/>
            <p:cNvSpPr/>
            <p:nvPr/>
          </p:nvSpPr>
          <p:spPr>
            <a:xfrm>
              <a:off x="4195250" y="3310675"/>
              <a:ext cx="61925" cy="13550"/>
            </a:xfrm>
            <a:custGeom>
              <a:avLst/>
              <a:gdLst/>
              <a:ahLst/>
              <a:cxnLst/>
              <a:rect l="l" t="t" r="r" b="b"/>
              <a:pathLst>
                <a:path w="2477" h="542" extrusionOk="0">
                  <a:moveTo>
                    <a:pt x="276" y="1"/>
                  </a:moveTo>
                  <a:cubicBezTo>
                    <a:pt x="123" y="1"/>
                    <a:pt x="1" y="153"/>
                    <a:pt x="27" y="306"/>
                  </a:cubicBezTo>
                  <a:cubicBezTo>
                    <a:pt x="40" y="446"/>
                    <a:pt x="153" y="542"/>
                    <a:pt x="289" y="542"/>
                  </a:cubicBezTo>
                  <a:lnTo>
                    <a:pt x="2128" y="542"/>
                  </a:lnTo>
                  <a:cubicBezTo>
                    <a:pt x="2477" y="529"/>
                    <a:pt x="2477" y="17"/>
                    <a:pt x="21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8"/>
            <p:cNvSpPr/>
            <p:nvPr/>
          </p:nvSpPr>
          <p:spPr>
            <a:xfrm>
              <a:off x="4193500" y="349500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46" y="1"/>
                  </a:moveTo>
                  <a:cubicBezTo>
                    <a:pt x="1" y="14"/>
                    <a:pt x="1" y="512"/>
                    <a:pt x="346" y="528"/>
                  </a:cubicBezTo>
                  <a:lnTo>
                    <a:pt x="2198" y="528"/>
                  </a:lnTo>
                  <a:cubicBezTo>
                    <a:pt x="2364" y="528"/>
                    <a:pt x="2491" y="389"/>
                    <a:pt x="2464" y="223"/>
                  </a:cubicBezTo>
                  <a:cubicBezTo>
                    <a:pt x="2447" y="97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8"/>
            <p:cNvSpPr/>
            <p:nvPr/>
          </p:nvSpPr>
          <p:spPr>
            <a:xfrm>
              <a:off x="4193500" y="346835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46" y="1"/>
                  </a:moveTo>
                  <a:cubicBezTo>
                    <a:pt x="1" y="18"/>
                    <a:pt x="1" y="529"/>
                    <a:pt x="346" y="529"/>
                  </a:cubicBezTo>
                  <a:lnTo>
                    <a:pt x="2198" y="529"/>
                  </a:lnTo>
                  <a:cubicBezTo>
                    <a:pt x="2364" y="529"/>
                    <a:pt x="2491" y="389"/>
                    <a:pt x="2464" y="223"/>
                  </a:cubicBezTo>
                  <a:cubicBezTo>
                    <a:pt x="2447" y="101"/>
                    <a:pt x="2325" y="1"/>
                    <a:pt x="21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8"/>
            <p:cNvSpPr/>
            <p:nvPr/>
          </p:nvSpPr>
          <p:spPr>
            <a:xfrm>
              <a:off x="4266450" y="349500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59" y="1"/>
                  </a:moveTo>
                  <a:cubicBezTo>
                    <a:pt x="1" y="14"/>
                    <a:pt x="1" y="512"/>
                    <a:pt x="359" y="528"/>
                  </a:cubicBezTo>
                  <a:lnTo>
                    <a:pt x="2202" y="528"/>
                  </a:lnTo>
                  <a:cubicBezTo>
                    <a:pt x="2368" y="528"/>
                    <a:pt x="2490" y="389"/>
                    <a:pt x="2464" y="223"/>
                  </a:cubicBezTo>
                  <a:cubicBezTo>
                    <a:pt x="2451" y="97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4266450" y="3468350"/>
              <a:ext cx="62275" cy="13225"/>
            </a:xfrm>
            <a:custGeom>
              <a:avLst/>
              <a:gdLst/>
              <a:ahLst/>
              <a:cxnLst/>
              <a:rect l="l" t="t" r="r" b="b"/>
              <a:pathLst>
                <a:path w="2491" h="529" extrusionOk="0">
                  <a:moveTo>
                    <a:pt x="359" y="1"/>
                  </a:moveTo>
                  <a:cubicBezTo>
                    <a:pt x="1" y="18"/>
                    <a:pt x="1" y="529"/>
                    <a:pt x="359" y="529"/>
                  </a:cubicBezTo>
                  <a:lnTo>
                    <a:pt x="2202" y="529"/>
                  </a:lnTo>
                  <a:cubicBezTo>
                    <a:pt x="2368" y="529"/>
                    <a:pt x="2490" y="389"/>
                    <a:pt x="2464" y="223"/>
                  </a:cubicBezTo>
                  <a:cubicBezTo>
                    <a:pt x="2451" y="101"/>
                    <a:pt x="2324" y="1"/>
                    <a:pt x="2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38"/>
          <p:cNvGrpSpPr/>
          <p:nvPr/>
        </p:nvGrpSpPr>
        <p:grpSpPr>
          <a:xfrm>
            <a:off x="7224810" y="1342988"/>
            <a:ext cx="339275" cy="339300"/>
            <a:chOff x="3277475" y="3256400"/>
            <a:chExt cx="339275" cy="339300"/>
          </a:xfrm>
        </p:grpSpPr>
        <p:sp>
          <p:nvSpPr>
            <p:cNvPr id="848" name="Google Shape;848;p38"/>
            <p:cNvSpPr/>
            <p:nvPr/>
          </p:nvSpPr>
          <p:spPr>
            <a:xfrm>
              <a:off x="3277475" y="3256400"/>
              <a:ext cx="339275" cy="339300"/>
            </a:xfrm>
            <a:custGeom>
              <a:avLst/>
              <a:gdLst/>
              <a:ahLst/>
              <a:cxnLst/>
              <a:rect l="l" t="t" r="r" b="b"/>
              <a:pathLst>
                <a:path w="13571" h="13572" extrusionOk="0">
                  <a:moveTo>
                    <a:pt x="2546" y="2451"/>
                  </a:moveTo>
                  <a:lnTo>
                    <a:pt x="2546" y="2975"/>
                  </a:lnTo>
                  <a:lnTo>
                    <a:pt x="1328" y="2975"/>
                  </a:lnTo>
                  <a:cubicBezTo>
                    <a:pt x="1179" y="2975"/>
                    <a:pt x="1066" y="3085"/>
                    <a:pt x="1066" y="3237"/>
                  </a:cubicBezTo>
                  <a:lnTo>
                    <a:pt x="1066" y="9863"/>
                  </a:lnTo>
                  <a:lnTo>
                    <a:pt x="541" y="9863"/>
                  </a:lnTo>
                  <a:lnTo>
                    <a:pt x="541" y="2713"/>
                  </a:lnTo>
                  <a:cubicBezTo>
                    <a:pt x="541" y="2560"/>
                    <a:pt x="651" y="2451"/>
                    <a:pt x="804" y="2451"/>
                  </a:cubicBezTo>
                  <a:close/>
                  <a:moveTo>
                    <a:pt x="2546" y="3500"/>
                  </a:moveTo>
                  <a:lnTo>
                    <a:pt x="2546" y="9863"/>
                  </a:lnTo>
                  <a:lnTo>
                    <a:pt x="1594" y="9863"/>
                  </a:lnTo>
                  <a:lnTo>
                    <a:pt x="1594" y="3500"/>
                  </a:lnTo>
                  <a:close/>
                  <a:moveTo>
                    <a:pt x="10500" y="542"/>
                  </a:moveTo>
                  <a:lnTo>
                    <a:pt x="10500" y="9863"/>
                  </a:lnTo>
                  <a:lnTo>
                    <a:pt x="3071" y="9863"/>
                  </a:lnTo>
                  <a:lnTo>
                    <a:pt x="3071" y="542"/>
                  </a:lnTo>
                  <a:close/>
                  <a:moveTo>
                    <a:pt x="11981" y="3500"/>
                  </a:moveTo>
                  <a:lnTo>
                    <a:pt x="11981" y="9863"/>
                  </a:lnTo>
                  <a:lnTo>
                    <a:pt x="11025" y="9863"/>
                  </a:lnTo>
                  <a:lnTo>
                    <a:pt x="11025" y="3500"/>
                  </a:lnTo>
                  <a:close/>
                  <a:moveTo>
                    <a:pt x="12767" y="2451"/>
                  </a:moveTo>
                  <a:cubicBezTo>
                    <a:pt x="12920" y="2451"/>
                    <a:pt x="13030" y="2560"/>
                    <a:pt x="13030" y="2713"/>
                  </a:cubicBezTo>
                  <a:lnTo>
                    <a:pt x="13030" y="9863"/>
                  </a:lnTo>
                  <a:lnTo>
                    <a:pt x="12505" y="9863"/>
                  </a:lnTo>
                  <a:lnTo>
                    <a:pt x="12505" y="3237"/>
                  </a:lnTo>
                  <a:cubicBezTo>
                    <a:pt x="12505" y="3085"/>
                    <a:pt x="12396" y="2975"/>
                    <a:pt x="12243" y="2975"/>
                  </a:cubicBezTo>
                  <a:lnTo>
                    <a:pt x="11025" y="2975"/>
                  </a:lnTo>
                  <a:lnTo>
                    <a:pt x="11025" y="2451"/>
                  </a:lnTo>
                  <a:close/>
                  <a:moveTo>
                    <a:pt x="13030" y="10388"/>
                  </a:moveTo>
                  <a:lnTo>
                    <a:pt x="13030" y="10653"/>
                  </a:lnTo>
                  <a:cubicBezTo>
                    <a:pt x="13030" y="10803"/>
                    <a:pt x="12920" y="10915"/>
                    <a:pt x="12767" y="10915"/>
                  </a:cubicBezTo>
                  <a:lnTo>
                    <a:pt x="804" y="10915"/>
                  </a:lnTo>
                  <a:cubicBezTo>
                    <a:pt x="651" y="10915"/>
                    <a:pt x="541" y="10803"/>
                    <a:pt x="541" y="10653"/>
                  </a:cubicBezTo>
                  <a:lnTo>
                    <a:pt x="541" y="10388"/>
                  </a:lnTo>
                  <a:close/>
                  <a:moveTo>
                    <a:pt x="7595" y="11453"/>
                  </a:moveTo>
                  <a:lnTo>
                    <a:pt x="8024" y="13043"/>
                  </a:lnTo>
                  <a:lnTo>
                    <a:pt x="5534" y="13043"/>
                  </a:lnTo>
                  <a:lnTo>
                    <a:pt x="5962" y="11453"/>
                  </a:lnTo>
                  <a:close/>
                  <a:moveTo>
                    <a:pt x="2809" y="1"/>
                  </a:moveTo>
                  <a:cubicBezTo>
                    <a:pt x="2672" y="1"/>
                    <a:pt x="2546" y="127"/>
                    <a:pt x="2546" y="280"/>
                  </a:cubicBezTo>
                  <a:lnTo>
                    <a:pt x="2546" y="1909"/>
                  </a:lnTo>
                  <a:lnTo>
                    <a:pt x="804" y="1909"/>
                  </a:lnTo>
                  <a:cubicBezTo>
                    <a:pt x="362" y="1909"/>
                    <a:pt x="0" y="2271"/>
                    <a:pt x="0" y="2713"/>
                  </a:cubicBezTo>
                  <a:lnTo>
                    <a:pt x="0" y="10653"/>
                  </a:lnTo>
                  <a:cubicBezTo>
                    <a:pt x="0" y="11095"/>
                    <a:pt x="362" y="11453"/>
                    <a:pt x="804" y="11453"/>
                  </a:cubicBezTo>
                  <a:lnTo>
                    <a:pt x="5424" y="11453"/>
                  </a:lnTo>
                  <a:lnTo>
                    <a:pt x="4996" y="13043"/>
                  </a:lnTo>
                  <a:lnTo>
                    <a:pt x="4664" y="13043"/>
                  </a:lnTo>
                  <a:cubicBezTo>
                    <a:pt x="4302" y="13043"/>
                    <a:pt x="4302" y="13558"/>
                    <a:pt x="4664" y="13571"/>
                  </a:cubicBezTo>
                  <a:lnTo>
                    <a:pt x="8897" y="13571"/>
                  </a:lnTo>
                  <a:cubicBezTo>
                    <a:pt x="9242" y="13558"/>
                    <a:pt x="9255" y="13060"/>
                    <a:pt x="8897" y="13043"/>
                  </a:cubicBezTo>
                  <a:lnTo>
                    <a:pt x="8578" y="13043"/>
                  </a:lnTo>
                  <a:lnTo>
                    <a:pt x="8150" y="11453"/>
                  </a:lnTo>
                  <a:lnTo>
                    <a:pt x="12767" y="11453"/>
                  </a:lnTo>
                  <a:cubicBezTo>
                    <a:pt x="13212" y="11453"/>
                    <a:pt x="13571" y="11095"/>
                    <a:pt x="13571" y="10653"/>
                  </a:cubicBezTo>
                  <a:lnTo>
                    <a:pt x="13571" y="2713"/>
                  </a:lnTo>
                  <a:cubicBezTo>
                    <a:pt x="13571" y="2271"/>
                    <a:pt x="13212" y="1909"/>
                    <a:pt x="12767" y="1909"/>
                  </a:cubicBezTo>
                  <a:lnTo>
                    <a:pt x="11025" y="1909"/>
                  </a:lnTo>
                  <a:lnTo>
                    <a:pt x="11025" y="280"/>
                  </a:lnTo>
                  <a:cubicBezTo>
                    <a:pt x="11025" y="127"/>
                    <a:pt x="10902" y="1"/>
                    <a:pt x="10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3374325" y="3341150"/>
              <a:ext cx="145575" cy="145900"/>
            </a:xfrm>
            <a:custGeom>
              <a:avLst/>
              <a:gdLst/>
              <a:ahLst/>
              <a:cxnLst/>
              <a:rect l="l" t="t" r="r" b="b"/>
              <a:pathLst>
                <a:path w="5823" h="5836" extrusionOk="0">
                  <a:moveTo>
                    <a:pt x="3306" y="541"/>
                  </a:moveTo>
                  <a:lnTo>
                    <a:pt x="3306" y="1328"/>
                  </a:lnTo>
                  <a:lnTo>
                    <a:pt x="2516" y="1328"/>
                  </a:lnTo>
                  <a:lnTo>
                    <a:pt x="2516" y="541"/>
                  </a:lnTo>
                  <a:close/>
                  <a:moveTo>
                    <a:pt x="1328" y="2516"/>
                  </a:moveTo>
                  <a:lnTo>
                    <a:pt x="1328" y="3320"/>
                  </a:lnTo>
                  <a:lnTo>
                    <a:pt x="525" y="3320"/>
                  </a:lnTo>
                  <a:lnTo>
                    <a:pt x="525" y="2516"/>
                  </a:lnTo>
                  <a:close/>
                  <a:moveTo>
                    <a:pt x="5298" y="2516"/>
                  </a:moveTo>
                  <a:lnTo>
                    <a:pt x="5298" y="3320"/>
                  </a:lnTo>
                  <a:lnTo>
                    <a:pt x="4495" y="3320"/>
                  </a:lnTo>
                  <a:lnTo>
                    <a:pt x="4495" y="2516"/>
                  </a:lnTo>
                  <a:close/>
                  <a:moveTo>
                    <a:pt x="3306" y="4508"/>
                  </a:moveTo>
                  <a:lnTo>
                    <a:pt x="3306" y="5298"/>
                  </a:lnTo>
                  <a:lnTo>
                    <a:pt x="2516" y="5298"/>
                  </a:lnTo>
                  <a:lnTo>
                    <a:pt x="2516" y="4508"/>
                  </a:lnTo>
                  <a:close/>
                  <a:moveTo>
                    <a:pt x="2254" y="0"/>
                  </a:moveTo>
                  <a:cubicBezTo>
                    <a:pt x="2101" y="0"/>
                    <a:pt x="1979" y="126"/>
                    <a:pt x="1979" y="276"/>
                  </a:cubicBezTo>
                  <a:lnTo>
                    <a:pt x="1979" y="1590"/>
                  </a:lnTo>
                  <a:cubicBezTo>
                    <a:pt x="1979" y="1743"/>
                    <a:pt x="2101" y="1869"/>
                    <a:pt x="2254" y="1869"/>
                  </a:cubicBezTo>
                  <a:lnTo>
                    <a:pt x="2643" y="1869"/>
                  </a:lnTo>
                  <a:lnTo>
                    <a:pt x="2643" y="2656"/>
                  </a:lnTo>
                  <a:lnTo>
                    <a:pt x="1853" y="2656"/>
                  </a:lnTo>
                  <a:lnTo>
                    <a:pt x="1853" y="2254"/>
                  </a:lnTo>
                  <a:cubicBezTo>
                    <a:pt x="1853" y="2118"/>
                    <a:pt x="1730" y="1992"/>
                    <a:pt x="1590" y="1992"/>
                  </a:cubicBezTo>
                  <a:lnTo>
                    <a:pt x="262" y="1992"/>
                  </a:lnTo>
                  <a:cubicBezTo>
                    <a:pt x="110" y="1992"/>
                    <a:pt x="0" y="2118"/>
                    <a:pt x="0" y="2254"/>
                  </a:cubicBezTo>
                  <a:lnTo>
                    <a:pt x="0" y="3582"/>
                  </a:lnTo>
                  <a:cubicBezTo>
                    <a:pt x="0" y="3735"/>
                    <a:pt x="110" y="3844"/>
                    <a:pt x="262" y="3844"/>
                  </a:cubicBezTo>
                  <a:lnTo>
                    <a:pt x="1590" y="3844"/>
                  </a:lnTo>
                  <a:cubicBezTo>
                    <a:pt x="1730" y="3844"/>
                    <a:pt x="1853" y="3735"/>
                    <a:pt x="1853" y="3582"/>
                  </a:cubicBezTo>
                  <a:lnTo>
                    <a:pt x="1853" y="3180"/>
                  </a:lnTo>
                  <a:lnTo>
                    <a:pt x="2643" y="3180"/>
                  </a:lnTo>
                  <a:lnTo>
                    <a:pt x="2643" y="3983"/>
                  </a:lnTo>
                  <a:lnTo>
                    <a:pt x="2254" y="3983"/>
                  </a:lnTo>
                  <a:cubicBezTo>
                    <a:pt x="2101" y="3983"/>
                    <a:pt x="1979" y="4093"/>
                    <a:pt x="1979" y="4246"/>
                  </a:cubicBezTo>
                  <a:lnTo>
                    <a:pt x="1979" y="5574"/>
                  </a:lnTo>
                  <a:cubicBezTo>
                    <a:pt x="1979" y="5713"/>
                    <a:pt x="2101" y="5836"/>
                    <a:pt x="2254" y="5836"/>
                  </a:cubicBezTo>
                  <a:lnTo>
                    <a:pt x="3569" y="5836"/>
                  </a:lnTo>
                  <a:cubicBezTo>
                    <a:pt x="3721" y="5836"/>
                    <a:pt x="3831" y="5713"/>
                    <a:pt x="3831" y="5574"/>
                  </a:cubicBezTo>
                  <a:lnTo>
                    <a:pt x="3831" y="4246"/>
                  </a:lnTo>
                  <a:cubicBezTo>
                    <a:pt x="3831" y="4093"/>
                    <a:pt x="3721" y="3983"/>
                    <a:pt x="3569" y="3983"/>
                  </a:cubicBezTo>
                  <a:lnTo>
                    <a:pt x="3180" y="3983"/>
                  </a:lnTo>
                  <a:lnTo>
                    <a:pt x="3180" y="3180"/>
                  </a:lnTo>
                  <a:lnTo>
                    <a:pt x="3970" y="3180"/>
                  </a:lnTo>
                  <a:lnTo>
                    <a:pt x="3970" y="3582"/>
                  </a:lnTo>
                  <a:cubicBezTo>
                    <a:pt x="3970" y="3735"/>
                    <a:pt x="4093" y="3844"/>
                    <a:pt x="4233" y="3844"/>
                  </a:cubicBezTo>
                  <a:lnTo>
                    <a:pt x="5560" y="3844"/>
                  </a:lnTo>
                  <a:cubicBezTo>
                    <a:pt x="5713" y="3844"/>
                    <a:pt x="5823" y="3735"/>
                    <a:pt x="5823" y="3582"/>
                  </a:cubicBezTo>
                  <a:lnTo>
                    <a:pt x="5823" y="2254"/>
                  </a:lnTo>
                  <a:cubicBezTo>
                    <a:pt x="5823" y="2118"/>
                    <a:pt x="5713" y="1992"/>
                    <a:pt x="5560" y="1992"/>
                  </a:cubicBezTo>
                  <a:lnTo>
                    <a:pt x="4233" y="1992"/>
                  </a:lnTo>
                  <a:cubicBezTo>
                    <a:pt x="4093" y="1992"/>
                    <a:pt x="3970" y="2118"/>
                    <a:pt x="3970" y="2254"/>
                  </a:cubicBezTo>
                  <a:lnTo>
                    <a:pt x="3970" y="2656"/>
                  </a:lnTo>
                  <a:lnTo>
                    <a:pt x="3180" y="2656"/>
                  </a:lnTo>
                  <a:lnTo>
                    <a:pt x="3180" y="1869"/>
                  </a:lnTo>
                  <a:lnTo>
                    <a:pt x="3569" y="1869"/>
                  </a:lnTo>
                  <a:cubicBezTo>
                    <a:pt x="3721" y="1869"/>
                    <a:pt x="3831" y="1743"/>
                    <a:pt x="3831" y="1590"/>
                  </a:cubicBezTo>
                  <a:lnTo>
                    <a:pt x="3831" y="276"/>
                  </a:lnTo>
                  <a:cubicBezTo>
                    <a:pt x="3831" y="126"/>
                    <a:pt x="3721" y="0"/>
                    <a:pt x="3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8"/>
            <p:cNvSpPr/>
            <p:nvPr/>
          </p:nvSpPr>
          <p:spPr>
            <a:xfrm>
              <a:off x="3371900" y="3313500"/>
              <a:ext cx="65025" cy="13150"/>
            </a:xfrm>
            <a:custGeom>
              <a:avLst/>
              <a:gdLst/>
              <a:ahLst/>
              <a:cxnLst/>
              <a:rect l="l" t="t" r="r" b="b"/>
              <a:pathLst>
                <a:path w="2601" h="526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338" y="525"/>
                  </a:lnTo>
                  <a:cubicBezTo>
                    <a:pt x="2491" y="525"/>
                    <a:pt x="2600" y="416"/>
                    <a:pt x="2600" y="263"/>
                  </a:cubicBezTo>
                  <a:cubicBezTo>
                    <a:pt x="2600" y="123"/>
                    <a:pt x="2491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8"/>
            <p:cNvSpPr/>
            <p:nvPr/>
          </p:nvSpPr>
          <p:spPr>
            <a:xfrm>
              <a:off x="3371900" y="3341150"/>
              <a:ext cx="37375" cy="13550"/>
            </a:xfrm>
            <a:custGeom>
              <a:avLst/>
              <a:gdLst/>
              <a:ahLst/>
              <a:cxnLst/>
              <a:rect l="l" t="t" r="r" b="b"/>
              <a:pathLst>
                <a:path w="1495" h="542" extrusionOk="0">
                  <a:moveTo>
                    <a:pt x="346" y="0"/>
                  </a:moveTo>
                  <a:cubicBezTo>
                    <a:pt x="1" y="13"/>
                    <a:pt x="1" y="524"/>
                    <a:pt x="346" y="541"/>
                  </a:cubicBezTo>
                  <a:lnTo>
                    <a:pt x="1203" y="541"/>
                  </a:lnTo>
                  <a:cubicBezTo>
                    <a:pt x="1342" y="541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8"/>
            <p:cNvSpPr/>
            <p:nvPr/>
          </p:nvSpPr>
          <p:spPr>
            <a:xfrm>
              <a:off x="3371900" y="3285775"/>
              <a:ext cx="65775" cy="13225"/>
            </a:xfrm>
            <a:custGeom>
              <a:avLst/>
              <a:gdLst/>
              <a:ahLst/>
              <a:cxnLst/>
              <a:rect l="l" t="t" r="r" b="b"/>
              <a:pathLst>
                <a:path w="2631" h="529" extrusionOk="0">
                  <a:moveTo>
                    <a:pt x="346" y="1"/>
                  </a:moveTo>
                  <a:cubicBezTo>
                    <a:pt x="1" y="17"/>
                    <a:pt x="1" y="515"/>
                    <a:pt x="346" y="529"/>
                  </a:cubicBezTo>
                  <a:lnTo>
                    <a:pt x="2325" y="529"/>
                  </a:lnTo>
                  <a:cubicBezTo>
                    <a:pt x="2464" y="529"/>
                    <a:pt x="2587" y="432"/>
                    <a:pt x="2600" y="306"/>
                  </a:cubicBezTo>
                  <a:cubicBezTo>
                    <a:pt x="2630" y="140"/>
                    <a:pt x="2504" y="1"/>
                    <a:pt x="23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8"/>
            <p:cNvSpPr/>
            <p:nvPr/>
          </p:nvSpPr>
          <p:spPr>
            <a:xfrm>
              <a:off x="3454575" y="3313500"/>
              <a:ext cx="65325" cy="13150"/>
            </a:xfrm>
            <a:custGeom>
              <a:avLst/>
              <a:gdLst/>
              <a:ahLst/>
              <a:cxnLst/>
              <a:rect l="l" t="t" r="r" b="b"/>
              <a:pathLst>
                <a:path w="2613" h="526" extrusionOk="0">
                  <a:moveTo>
                    <a:pt x="359" y="1"/>
                  </a:moveTo>
                  <a:cubicBezTo>
                    <a:pt x="0" y="14"/>
                    <a:pt x="0" y="512"/>
                    <a:pt x="359" y="525"/>
                  </a:cubicBezTo>
                  <a:lnTo>
                    <a:pt x="2337" y="525"/>
                  </a:lnTo>
                  <a:cubicBezTo>
                    <a:pt x="2490" y="525"/>
                    <a:pt x="2613" y="416"/>
                    <a:pt x="2613" y="263"/>
                  </a:cubicBezTo>
                  <a:cubicBezTo>
                    <a:pt x="2613" y="123"/>
                    <a:pt x="2490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8"/>
            <p:cNvSpPr/>
            <p:nvPr/>
          </p:nvSpPr>
          <p:spPr>
            <a:xfrm>
              <a:off x="3454575" y="3285775"/>
              <a:ext cx="65675" cy="13225"/>
            </a:xfrm>
            <a:custGeom>
              <a:avLst/>
              <a:gdLst/>
              <a:ahLst/>
              <a:cxnLst/>
              <a:rect l="l" t="t" r="r" b="b"/>
              <a:pathLst>
                <a:path w="2627" h="529" extrusionOk="0">
                  <a:moveTo>
                    <a:pt x="359" y="1"/>
                  </a:moveTo>
                  <a:cubicBezTo>
                    <a:pt x="0" y="17"/>
                    <a:pt x="0" y="515"/>
                    <a:pt x="359" y="529"/>
                  </a:cubicBezTo>
                  <a:lnTo>
                    <a:pt x="2337" y="529"/>
                  </a:lnTo>
                  <a:cubicBezTo>
                    <a:pt x="2460" y="529"/>
                    <a:pt x="2586" y="432"/>
                    <a:pt x="2599" y="306"/>
                  </a:cubicBezTo>
                  <a:cubicBezTo>
                    <a:pt x="2626" y="140"/>
                    <a:pt x="2503" y="1"/>
                    <a:pt x="23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8"/>
            <p:cNvSpPr/>
            <p:nvPr/>
          </p:nvSpPr>
          <p:spPr>
            <a:xfrm>
              <a:off x="3484600" y="3341150"/>
              <a:ext cx="37375" cy="13550"/>
            </a:xfrm>
            <a:custGeom>
              <a:avLst/>
              <a:gdLst/>
              <a:ahLst/>
              <a:cxnLst/>
              <a:rect l="l" t="t" r="r" b="b"/>
              <a:pathLst>
                <a:path w="1495" h="542" extrusionOk="0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41"/>
                    <a:pt x="280" y="541"/>
                  </a:cubicBezTo>
                  <a:lnTo>
                    <a:pt x="1136" y="541"/>
                  </a:lnTo>
                  <a:cubicBezTo>
                    <a:pt x="1495" y="524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8"/>
            <p:cNvSpPr/>
            <p:nvPr/>
          </p:nvSpPr>
          <p:spPr>
            <a:xfrm>
              <a:off x="3371900" y="3473600"/>
              <a:ext cx="37375" cy="13450"/>
            </a:xfrm>
            <a:custGeom>
              <a:avLst/>
              <a:gdLst/>
              <a:ahLst/>
              <a:cxnLst/>
              <a:rect l="l" t="t" r="r" b="b"/>
              <a:pathLst>
                <a:path w="1495" h="538" extrusionOk="0">
                  <a:moveTo>
                    <a:pt x="346" y="0"/>
                  </a:moveTo>
                  <a:cubicBezTo>
                    <a:pt x="1" y="13"/>
                    <a:pt x="1" y="525"/>
                    <a:pt x="346" y="538"/>
                  </a:cubicBezTo>
                  <a:lnTo>
                    <a:pt x="1203" y="538"/>
                  </a:lnTo>
                  <a:cubicBezTo>
                    <a:pt x="1342" y="538"/>
                    <a:pt x="1452" y="442"/>
                    <a:pt x="1481" y="305"/>
                  </a:cubicBezTo>
                  <a:cubicBezTo>
                    <a:pt x="1495" y="153"/>
                    <a:pt x="1369" y="0"/>
                    <a:pt x="1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8"/>
            <p:cNvSpPr/>
            <p:nvPr/>
          </p:nvSpPr>
          <p:spPr>
            <a:xfrm>
              <a:off x="3484600" y="3473600"/>
              <a:ext cx="37375" cy="13450"/>
            </a:xfrm>
            <a:custGeom>
              <a:avLst/>
              <a:gdLst/>
              <a:ahLst/>
              <a:cxnLst/>
              <a:rect l="l" t="t" r="r" b="b"/>
              <a:pathLst>
                <a:path w="1495" h="538" extrusionOk="0">
                  <a:moveTo>
                    <a:pt x="293" y="0"/>
                  </a:moveTo>
                  <a:cubicBezTo>
                    <a:pt x="154" y="0"/>
                    <a:pt x="44" y="96"/>
                    <a:pt x="14" y="236"/>
                  </a:cubicBezTo>
                  <a:cubicBezTo>
                    <a:pt x="1" y="402"/>
                    <a:pt x="127" y="538"/>
                    <a:pt x="280" y="538"/>
                  </a:cubicBezTo>
                  <a:lnTo>
                    <a:pt x="1136" y="538"/>
                  </a:lnTo>
                  <a:cubicBezTo>
                    <a:pt x="1495" y="525"/>
                    <a:pt x="1495" y="13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38"/>
          <p:cNvGrpSpPr/>
          <p:nvPr/>
        </p:nvGrpSpPr>
        <p:grpSpPr>
          <a:xfrm>
            <a:off x="4860647" y="1342988"/>
            <a:ext cx="338875" cy="339300"/>
            <a:chOff x="2518850" y="3256400"/>
            <a:chExt cx="338875" cy="339300"/>
          </a:xfrm>
        </p:grpSpPr>
        <p:sp>
          <p:nvSpPr>
            <p:cNvPr id="859" name="Google Shape;859;p38"/>
            <p:cNvSpPr/>
            <p:nvPr/>
          </p:nvSpPr>
          <p:spPr>
            <a:xfrm>
              <a:off x="2518850" y="3256400"/>
              <a:ext cx="338875" cy="339300"/>
            </a:xfrm>
            <a:custGeom>
              <a:avLst/>
              <a:gdLst/>
              <a:ahLst/>
              <a:cxnLst/>
              <a:rect l="l" t="t" r="r" b="b"/>
              <a:pathLst>
                <a:path w="13555" h="13572" extrusionOk="0">
                  <a:moveTo>
                    <a:pt x="8370" y="2975"/>
                  </a:moveTo>
                  <a:lnTo>
                    <a:pt x="8370" y="3500"/>
                  </a:lnTo>
                  <a:lnTo>
                    <a:pt x="7842" y="3500"/>
                  </a:lnTo>
                  <a:lnTo>
                    <a:pt x="7842" y="2975"/>
                  </a:lnTo>
                  <a:close/>
                  <a:moveTo>
                    <a:pt x="4662" y="5259"/>
                  </a:moveTo>
                  <a:lnTo>
                    <a:pt x="4662" y="7317"/>
                  </a:lnTo>
                  <a:lnTo>
                    <a:pt x="3596" y="7317"/>
                  </a:lnTo>
                  <a:lnTo>
                    <a:pt x="3596" y="5259"/>
                  </a:lnTo>
                  <a:close/>
                  <a:moveTo>
                    <a:pt x="7304" y="542"/>
                  </a:moveTo>
                  <a:lnTo>
                    <a:pt x="7304" y="7317"/>
                  </a:lnTo>
                  <a:lnTo>
                    <a:pt x="6252" y="7317"/>
                  </a:lnTo>
                  <a:lnTo>
                    <a:pt x="6252" y="542"/>
                  </a:lnTo>
                  <a:close/>
                  <a:moveTo>
                    <a:pt x="8370" y="4027"/>
                  </a:moveTo>
                  <a:lnTo>
                    <a:pt x="8370" y="7317"/>
                  </a:lnTo>
                  <a:lnTo>
                    <a:pt x="7842" y="7317"/>
                  </a:lnTo>
                  <a:lnTo>
                    <a:pt x="7842" y="4027"/>
                  </a:lnTo>
                  <a:close/>
                  <a:moveTo>
                    <a:pt x="9960" y="2451"/>
                  </a:moveTo>
                  <a:lnTo>
                    <a:pt x="9960" y="7317"/>
                  </a:lnTo>
                  <a:lnTo>
                    <a:pt x="8894" y="7317"/>
                  </a:lnTo>
                  <a:lnTo>
                    <a:pt x="8894" y="2451"/>
                  </a:lnTo>
                  <a:close/>
                  <a:moveTo>
                    <a:pt x="11440" y="4027"/>
                  </a:moveTo>
                  <a:lnTo>
                    <a:pt x="11440" y="10653"/>
                  </a:lnTo>
                  <a:lnTo>
                    <a:pt x="2115" y="10653"/>
                  </a:lnTo>
                  <a:lnTo>
                    <a:pt x="2115" y="4027"/>
                  </a:lnTo>
                  <a:lnTo>
                    <a:pt x="5727" y="4027"/>
                  </a:lnTo>
                  <a:lnTo>
                    <a:pt x="5727" y="7317"/>
                  </a:lnTo>
                  <a:lnTo>
                    <a:pt x="5186" y="7317"/>
                  </a:lnTo>
                  <a:lnTo>
                    <a:pt x="5186" y="4980"/>
                  </a:lnTo>
                  <a:cubicBezTo>
                    <a:pt x="5186" y="4844"/>
                    <a:pt x="5077" y="4718"/>
                    <a:pt x="4924" y="4718"/>
                  </a:cubicBezTo>
                  <a:lnTo>
                    <a:pt x="3334" y="4718"/>
                  </a:lnTo>
                  <a:cubicBezTo>
                    <a:pt x="3194" y="4718"/>
                    <a:pt x="3071" y="4844"/>
                    <a:pt x="3071" y="4980"/>
                  </a:cubicBezTo>
                  <a:lnTo>
                    <a:pt x="3071" y="7317"/>
                  </a:lnTo>
                  <a:lnTo>
                    <a:pt x="2932" y="7317"/>
                  </a:lnTo>
                  <a:cubicBezTo>
                    <a:pt x="2587" y="7334"/>
                    <a:pt x="2587" y="7832"/>
                    <a:pt x="2932" y="7845"/>
                  </a:cubicBezTo>
                  <a:lnTo>
                    <a:pt x="10624" y="7845"/>
                  </a:lnTo>
                  <a:cubicBezTo>
                    <a:pt x="10969" y="7832"/>
                    <a:pt x="10969" y="7334"/>
                    <a:pt x="10624" y="7317"/>
                  </a:cubicBezTo>
                  <a:lnTo>
                    <a:pt x="10484" y="7317"/>
                  </a:lnTo>
                  <a:lnTo>
                    <a:pt x="10484" y="4027"/>
                  </a:lnTo>
                  <a:close/>
                  <a:moveTo>
                    <a:pt x="12240" y="2975"/>
                  </a:moveTo>
                  <a:cubicBezTo>
                    <a:pt x="12380" y="2975"/>
                    <a:pt x="12502" y="3085"/>
                    <a:pt x="12502" y="3237"/>
                  </a:cubicBezTo>
                  <a:lnTo>
                    <a:pt x="12502" y="11716"/>
                  </a:lnTo>
                  <a:lnTo>
                    <a:pt x="8370" y="11716"/>
                  </a:lnTo>
                  <a:cubicBezTo>
                    <a:pt x="8217" y="11716"/>
                    <a:pt x="8104" y="11828"/>
                    <a:pt x="8104" y="11981"/>
                  </a:cubicBezTo>
                  <a:lnTo>
                    <a:pt x="5448" y="11981"/>
                  </a:lnTo>
                  <a:cubicBezTo>
                    <a:pt x="5448" y="11828"/>
                    <a:pt x="5339" y="11716"/>
                    <a:pt x="5186" y="11716"/>
                  </a:cubicBezTo>
                  <a:lnTo>
                    <a:pt x="1050" y="11716"/>
                  </a:lnTo>
                  <a:lnTo>
                    <a:pt x="1050" y="3237"/>
                  </a:lnTo>
                  <a:cubicBezTo>
                    <a:pt x="1050" y="3085"/>
                    <a:pt x="1176" y="2975"/>
                    <a:pt x="1329" y="2975"/>
                  </a:cubicBezTo>
                  <a:lnTo>
                    <a:pt x="5727" y="2975"/>
                  </a:lnTo>
                  <a:lnTo>
                    <a:pt x="5727" y="3500"/>
                  </a:lnTo>
                  <a:lnTo>
                    <a:pt x="1853" y="3500"/>
                  </a:lnTo>
                  <a:cubicBezTo>
                    <a:pt x="1701" y="3500"/>
                    <a:pt x="1591" y="3626"/>
                    <a:pt x="1591" y="3765"/>
                  </a:cubicBezTo>
                  <a:lnTo>
                    <a:pt x="1591" y="10915"/>
                  </a:lnTo>
                  <a:cubicBezTo>
                    <a:pt x="1591" y="11068"/>
                    <a:pt x="1701" y="11191"/>
                    <a:pt x="1853" y="11191"/>
                  </a:cubicBezTo>
                  <a:lnTo>
                    <a:pt x="11702" y="11191"/>
                  </a:lnTo>
                  <a:cubicBezTo>
                    <a:pt x="11855" y="11191"/>
                    <a:pt x="11965" y="11068"/>
                    <a:pt x="11965" y="10915"/>
                  </a:cubicBezTo>
                  <a:lnTo>
                    <a:pt x="11965" y="3765"/>
                  </a:lnTo>
                  <a:cubicBezTo>
                    <a:pt x="11965" y="3626"/>
                    <a:pt x="11855" y="3500"/>
                    <a:pt x="11702" y="3500"/>
                  </a:cubicBezTo>
                  <a:lnTo>
                    <a:pt x="10484" y="3500"/>
                  </a:lnTo>
                  <a:lnTo>
                    <a:pt x="10484" y="2975"/>
                  </a:lnTo>
                  <a:close/>
                  <a:moveTo>
                    <a:pt x="13030" y="12243"/>
                  </a:moveTo>
                  <a:lnTo>
                    <a:pt x="13030" y="12768"/>
                  </a:lnTo>
                  <a:cubicBezTo>
                    <a:pt x="13030" y="12921"/>
                    <a:pt x="12904" y="13043"/>
                    <a:pt x="12768" y="13043"/>
                  </a:cubicBezTo>
                  <a:lnTo>
                    <a:pt x="788" y="13043"/>
                  </a:lnTo>
                  <a:cubicBezTo>
                    <a:pt x="652" y="13043"/>
                    <a:pt x="525" y="12921"/>
                    <a:pt x="525" y="12768"/>
                  </a:cubicBezTo>
                  <a:lnTo>
                    <a:pt x="525" y="12243"/>
                  </a:lnTo>
                  <a:lnTo>
                    <a:pt x="4994" y="12243"/>
                  </a:lnTo>
                  <a:cubicBezTo>
                    <a:pt x="5090" y="12409"/>
                    <a:pt x="5256" y="12506"/>
                    <a:pt x="5448" y="12506"/>
                  </a:cubicBezTo>
                  <a:lnTo>
                    <a:pt x="8104" y="12506"/>
                  </a:lnTo>
                  <a:cubicBezTo>
                    <a:pt x="8300" y="12506"/>
                    <a:pt x="8466" y="12409"/>
                    <a:pt x="8562" y="12243"/>
                  </a:cubicBezTo>
                  <a:close/>
                  <a:moveTo>
                    <a:pt x="5989" y="1"/>
                  </a:moveTo>
                  <a:cubicBezTo>
                    <a:pt x="5837" y="1"/>
                    <a:pt x="5727" y="127"/>
                    <a:pt x="5727" y="280"/>
                  </a:cubicBezTo>
                  <a:lnTo>
                    <a:pt x="5727" y="2451"/>
                  </a:lnTo>
                  <a:lnTo>
                    <a:pt x="1329" y="2451"/>
                  </a:lnTo>
                  <a:cubicBezTo>
                    <a:pt x="884" y="2451"/>
                    <a:pt x="525" y="2796"/>
                    <a:pt x="525" y="3237"/>
                  </a:cubicBezTo>
                  <a:lnTo>
                    <a:pt x="525" y="11716"/>
                  </a:lnTo>
                  <a:lnTo>
                    <a:pt x="263" y="11716"/>
                  </a:lnTo>
                  <a:cubicBezTo>
                    <a:pt x="110" y="11716"/>
                    <a:pt x="1" y="11828"/>
                    <a:pt x="1" y="11981"/>
                  </a:cubicBezTo>
                  <a:lnTo>
                    <a:pt x="1" y="12768"/>
                  </a:lnTo>
                  <a:cubicBezTo>
                    <a:pt x="1" y="13209"/>
                    <a:pt x="359" y="13571"/>
                    <a:pt x="788" y="13571"/>
                  </a:cubicBezTo>
                  <a:lnTo>
                    <a:pt x="12768" y="13571"/>
                  </a:lnTo>
                  <a:cubicBezTo>
                    <a:pt x="13210" y="13571"/>
                    <a:pt x="13555" y="13209"/>
                    <a:pt x="13555" y="12768"/>
                  </a:cubicBezTo>
                  <a:lnTo>
                    <a:pt x="13555" y="11981"/>
                  </a:lnTo>
                  <a:cubicBezTo>
                    <a:pt x="13555" y="11828"/>
                    <a:pt x="13445" y="11716"/>
                    <a:pt x="13293" y="11716"/>
                  </a:cubicBezTo>
                  <a:lnTo>
                    <a:pt x="13030" y="11716"/>
                  </a:lnTo>
                  <a:lnTo>
                    <a:pt x="13030" y="3237"/>
                  </a:lnTo>
                  <a:cubicBezTo>
                    <a:pt x="13030" y="2796"/>
                    <a:pt x="12668" y="2451"/>
                    <a:pt x="12240" y="2451"/>
                  </a:cubicBezTo>
                  <a:lnTo>
                    <a:pt x="10484" y="2451"/>
                  </a:lnTo>
                  <a:lnTo>
                    <a:pt x="10484" y="2172"/>
                  </a:lnTo>
                  <a:cubicBezTo>
                    <a:pt x="10484" y="2036"/>
                    <a:pt x="10375" y="1909"/>
                    <a:pt x="10222" y="1909"/>
                  </a:cubicBezTo>
                  <a:lnTo>
                    <a:pt x="8632" y="1909"/>
                  </a:lnTo>
                  <a:cubicBezTo>
                    <a:pt x="8492" y="1909"/>
                    <a:pt x="8370" y="2036"/>
                    <a:pt x="8370" y="2172"/>
                  </a:cubicBezTo>
                  <a:lnTo>
                    <a:pt x="8370" y="2451"/>
                  </a:lnTo>
                  <a:lnTo>
                    <a:pt x="7842" y="2451"/>
                  </a:lnTo>
                  <a:lnTo>
                    <a:pt x="7842" y="280"/>
                  </a:lnTo>
                  <a:cubicBezTo>
                    <a:pt x="7842" y="127"/>
                    <a:pt x="7719" y="1"/>
                    <a:pt x="7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8"/>
            <p:cNvSpPr/>
            <p:nvPr/>
          </p:nvSpPr>
          <p:spPr>
            <a:xfrm>
              <a:off x="25838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45" y="1"/>
                  </a:moveTo>
                  <a:cubicBezTo>
                    <a:pt x="0" y="1"/>
                    <a:pt x="0" y="512"/>
                    <a:pt x="345" y="528"/>
                  </a:cubicBezTo>
                  <a:lnTo>
                    <a:pt x="3542" y="528"/>
                  </a:lnTo>
                  <a:cubicBezTo>
                    <a:pt x="3678" y="528"/>
                    <a:pt x="3804" y="429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8"/>
            <p:cNvSpPr/>
            <p:nvPr/>
          </p:nvSpPr>
          <p:spPr>
            <a:xfrm>
              <a:off x="25838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45" y="1"/>
                  </a:moveTo>
                  <a:cubicBezTo>
                    <a:pt x="0" y="14"/>
                    <a:pt x="0" y="512"/>
                    <a:pt x="345" y="525"/>
                  </a:cubicBezTo>
                  <a:lnTo>
                    <a:pt x="3542" y="525"/>
                  </a:lnTo>
                  <a:cubicBezTo>
                    <a:pt x="3678" y="525"/>
                    <a:pt x="3804" y="442"/>
                    <a:pt x="3818" y="306"/>
                  </a:cubicBezTo>
                  <a:cubicBezTo>
                    <a:pt x="3844" y="140"/>
                    <a:pt x="3721" y="1"/>
                    <a:pt x="35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8"/>
            <p:cNvSpPr/>
            <p:nvPr/>
          </p:nvSpPr>
          <p:spPr>
            <a:xfrm>
              <a:off x="2695550" y="3465950"/>
              <a:ext cx="96125" cy="13225"/>
            </a:xfrm>
            <a:custGeom>
              <a:avLst/>
              <a:gdLst/>
              <a:ahLst/>
              <a:cxnLst/>
              <a:rect l="l" t="t" r="r" b="b"/>
              <a:pathLst>
                <a:path w="3845" h="529" extrusionOk="0">
                  <a:moveTo>
                    <a:pt x="359" y="1"/>
                  </a:moveTo>
                  <a:cubicBezTo>
                    <a:pt x="14" y="1"/>
                    <a:pt x="0" y="512"/>
                    <a:pt x="359" y="528"/>
                  </a:cubicBezTo>
                  <a:lnTo>
                    <a:pt x="3556" y="528"/>
                  </a:lnTo>
                  <a:cubicBezTo>
                    <a:pt x="3692" y="528"/>
                    <a:pt x="3805" y="429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2695550" y="3492250"/>
              <a:ext cx="96125" cy="13150"/>
            </a:xfrm>
            <a:custGeom>
              <a:avLst/>
              <a:gdLst/>
              <a:ahLst/>
              <a:cxnLst/>
              <a:rect l="l" t="t" r="r" b="b"/>
              <a:pathLst>
                <a:path w="3845" h="526" extrusionOk="0">
                  <a:moveTo>
                    <a:pt x="359" y="1"/>
                  </a:moveTo>
                  <a:cubicBezTo>
                    <a:pt x="14" y="14"/>
                    <a:pt x="0" y="512"/>
                    <a:pt x="359" y="525"/>
                  </a:cubicBezTo>
                  <a:lnTo>
                    <a:pt x="3556" y="525"/>
                  </a:lnTo>
                  <a:cubicBezTo>
                    <a:pt x="3692" y="525"/>
                    <a:pt x="3805" y="442"/>
                    <a:pt x="3831" y="306"/>
                  </a:cubicBezTo>
                  <a:cubicBezTo>
                    <a:pt x="3844" y="140"/>
                    <a:pt x="37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4" name="Google Shape;864;p38"/>
          <p:cNvGrpSpPr/>
          <p:nvPr/>
        </p:nvGrpSpPr>
        <p:grpSpPr>
          <a:xfrm>
            <a:off x="2435860" y="2805838"/>
            <a:ext cx="339200" cy="304700"/>
            <a:chOff x="2489475" y="2699700"/>
            <a:chExt cx="339200" cy="304700"/>
          </a:xfrm>
        </p:grpSpPr>
        <p:sp>
          <p:nvSpPr>
            <p:cNvPr id="865" name="Google Shape;865;p38"/>
            <p:cNvSpPr/>
            <p:nvPr/>
          </p:nvSpPr>
          <p:spPr>
            <a:xfrm>
              <a:off x="2489475" y="2699700"/>
              <a:ext cx="339200" cy="304700"/>
            </a:xfrm>
            <a:custGeom>
              <a:avLst/>
              <a:gdLst/>
              <a:ahLst/>
              <a:cxnLst/>
              <a:rect l="l" t="t" r="r" b="b"/>
              <a:pathLst>
                <a:path w="13568" h="12188" extrusionOk="0">
                  <a:moveTo>
                    <a:pt x="12765" y="539"/>
                  </a:moveTo>
                  <a:cubicBezTo>
                    <a:pt x="12917" y="539"/>
                    <a:pt x="13043" y="652"/>
                    <a:pt x="13043" y="804"/>
                  </a:cubicBezTo>
                  <a:lnTo>
                    <a:pt x="13043" y="1067"/>
                  </a:lnTo>
                  <a:lnTo>
                    <a:pt x="4509" y="1067"/>
                  </a:lnTo>
                  <a:cubicBezTo>
                    <a:pt x="4356" y="1067"/>
                    <a:pt x="4246" y="1189"/>
                    <a:pt x="4246" y="1329"/>
                  </a:cubicBezTo>
                  <a:cubicBezTo>
                    <a:pt x="4246" y="1770"/>
                    <a:pt x="3885" y="2132"/>
                    <a:pt x="3443" y="2132"/>
                  </a:cubicBezTo>
                  <a:lnTo>
                    <a:pt x="539" y="2132"/>
                  </a:lnTo>
                  <a:lnTo>
                    <a:pt x="539" y="804"/>
                  </a:lnTo>
                  <a:cubicBezTo>
                    <a:pt x="539" y="652"/>
                    <a:pt x="648" y="539"/>
                    <a:pt x="801" y="539"/>
                  </a:cubicBezTo>
                  <a:close/>
                  <a:moveTo>
                    <a:pt x="13043" y="1591"/>
                  </a:moveTo>
                  <a:lnTo>
                    <a:pt x="13043" y="11397"/>
                  </a:lnTo>
                  <a:cubicBezTo>
                    <a:pt x="13043" y="11537"/>
                    <a:pt x="12917" y="11659"/>
                    <a:pt x="12765" y="11659"/>
                  </a:cubicBezTo>
                  <a:lnTo>
                    <a:pt x="801" y="11659"/>
                  </a:lnTo>
                  <a:cubicBezTo>
                    <a:pt x="648" y="11659"/>
                    <a:pt x="539" y="11537"/>
                    <a:pt x="539" y="11397"/>
                  </a:cubicBezTo>
                  <a:lnTo>
                    <a:pt x="539" y="2657"/>
                  </a:lnTo>
                  <a:lnTo>
                    <a:pt x="3443" y="2657"/>
                  </a:lnTo>
                  <a:cubicBezTo>
                    <a:pt x="4094" y="2657"/>
                    <a:pt x="4618" y="2199"/>
                    <a:pt x="4744" y="1591"/>
                  </a:cubicBezTo>
                  <a:close/>
                  <a:moveTo>
                    <a:pt x="801" y="1"/>
                  </a:moveTo>
                  <a:cubicBezTo>
                    <a:pt x="359" y="1"/>
                    <a:pt x="1" y="360"/>
                    <a:pt x="1" y="804"/>
                  </a:cubicBezTo>
                  <a:lnTo>
                    <a:pt x="1" y="11397"/>
                  </a:lnTo>
                  <a:cubicBezTo>
                    <a:pt x="1" y="11842"/>
                    <a:pt x="359" y="12187"/>
                    <a:pt x="801" y="12187"/>
                  </a:cubicBezTo>
                  <a:lnTo>
                    <a:pt x="12765" y="12187"/>
                  </a:lnTo>
                  <a:cubicBezTo>
                    <a:pt x="13209" y="12187"/>
                    <a:pt x="13568" y="11842"/>
                    <a:pt x="13568" y="11397"/>
                  </a:cubicBezTo>
                  <a:lnTo>
                    <a:pt x="13568" y="804"/>
                  </a:lnTo>
                  <a:cubicBezTo>
                    <a:pt x="13568" y="360"/>
                    <a:pt x="13209" y="1"/>
                    <a:pt x="12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8"/>
            <p:cNvSpPr/>
            <p:nvPr/>
          </p:nvSpPr>
          <p:spPr>
            <a:xfrm>
              <a:off x="2568975" y="2726100"/>
              <a:ext cx="13475" cy="13400"/>
            </a:xfrm>
            <a:custGeom>
              <a:avLst/>
              <a:gdLst/>
              <a:ahLst/>
              <a:cxnLst/>
              <a:rect l="l" t="t" r="r" b="b"/>
              <a:pathLst>
                <a:path w="539" h="536" extrusionOk="0">
                  <a:moveTo>
                    <a:pt x="270" y="1"/>
                  </a:moveTo>
                  <a:cubicBezTo>
                    <a:pt x="139" y="1"/>
                    <a:pt x="8" y="87"/>
                    <a:pt x="1" y="260"/>
                  </a:cubicBezTo>
                  <a:cubicBezTo>
                    <a:pt x="1" y="412"/>
                    <a:pt x="124" y="535"/>
                    <a:pt x="263" y="535"/>
                  </a:cubicBezTo>
                  <a:cubicBezTo>
                    <a:pt x="416" y="535"/>
                    <a:pt x="539" y="412"/>
                    <a:pt x="539" y="260"/>
                  </a:cubicBezTo>
                  <a:cubicBezTo>
                    <a:pt x="532" y="87"/>
                    <a:pt x="401" y="1"/>
                    <a:pt x="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2542675" y="2726100"/>
              <a:ext cx="13225" cy="13400"/>
            </a:xfrm>
            <a:custGeom>
              <a:avLst/>
              <a:gdLst/>
              <a:ahLst/>
              <a:cxnLst/>
              <a:rect l="l" t="t" r="r" b="b"/>
              <a:pathLst>
                <a:path w="529" h="536" extrusionOk="0">
                  <a:moveTo>
                    <a:pt x="263" y="1"/>
                  </a:moveTo>
                  <a:cubicBezTo>
                    <a:pt x="135" y="1"/>
                    <a:pt x="7" y="87"/>
                    <a:pt x="1" y="260"/>
                  </a:cubicBezTo>
                  <a:cubicBezTo>
                    <a:pt x="1" y="412"/>
                    <a:pt x="113" y="535"/>
                    <a:pt x="263" y="535"/>
                  </a:cubicBezTo>
                  <a:cubicBezTo>
                    <a:pt x="402" y="535"/>
                    <a:pt x="528" y="412"/>
                    <a:pt x="528" y="260"/>
                  </a:cubicBezTo>
                  <a:cubicBezTo>
                    <a:pt x="520" y="87"/>
                    <a:pt x="391" y="1"/>
                    <a:pt x="2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2516050" y="2726100"/>
              <a:ext cx="13200" cy="13400"/>
            </a:xfrm>
            <a:custGeom>
              <a:avLst/>
              <a:gdLst/>
              <a:ahLst/>
              <a:cxnLst/>
              <a:rect l="l" t="t" r="r" b="b"/>
              <a:pathLst>
                <a:path w="528" h="536" extrusionOk="0">
                  <a:moveTo>
                    <a:pt x="265" y="1"/>
                  </a:moveTo>
                  <a:cubicBezTo>
                    <a:pt x="137" y="1"/>
                    <a:pt x="8" y="87"/>
                    <a:pt x="0" y="260"/>
                  </a:cubicBezTo>
                  <a:cubicBezTo>
                    <a:pt x="0" y="412"/>
                    <a:pt x="126" y="535"/>
                    <a:pt x="266" y="535"/>
                  </a:cubicBezTo>
                  <a:cubicBezTo>
                    <a:pt x="415" y="535"/>
                    <a:pt x="528" y="412"/>
                    <a:pt x="528" y="260"/>
                  </a:cubicBezTo>
                  <a:cubicBezTo>
                    <a:pt x="521" y="87"/>
                    <a:pt x="393" y="1"/>
                    <a:pt x="2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2516050" y="2779225"/>
              <a:ext cx="286000" cy="198850"/>
            </a:xfrm>
            <a:custGeom>
              <a:avLst/>
              <a:gdLst/>
              <a:ahLst/>
              <a:cxnLst/>
              <a:rect l="l" t="t" r="r" b="b"/>
              <a:pathLst>
                <a:path w="11440" h="7954" extrusionOk="0">
                  <a:moveTo>
                    <a:pt x="10915" y="528"/>
                  </a:moveTo>
                  <a:lnTo>
                    <a:pt x="10915" y="7416"/>
                  </a:lnTo>
                  <a:lnTo>
                    <a:pt x="528" y="7416"/>
                  </a:lnTo>
                  <a:lnTo>
                    <a:pt x="528" y="528"/>
                  </a:lnTo>
                  <a:close/>
                  <a:moveTo>
                    <a:pt x="266" y="0"/>
                  </a:moveTo>
                  <a:cubicBezTo>
                    <a:pt x="126" y="0"/>
                    <a:pt x="0" y="126"/>
                    <a:pt x="0" y="262"/>
                  </a:cubicBezTo>
                  <a:lnTo>
                    <a:pt x="0" y="7678"/>
                  </a:lnTo>
                  <a:cubicBezTo>
                    <a:pt x="0" y="7831"/>
                    <a:pt x="126" y="7954"/>
                    <a:pt x="266" y="7954"/>
                  </a:cubicBezTo>
                  <a:lnTo>
                    <a:pt x="11177" y="7954"/>
                  </a:lnTo>
                  <a:cubicBezTo>
                    <a:pt x="11330" y="7954"/>
                    <a:pt x="11439" y="7831"/>
                    <a:pt x="11439" y="7678"/>
                  </a:cubicBezTo>
                  <a:lnTo>
                    <a:pt x="11439" y="262"/>
                  </a:lnTo>
                  <a:cubicBezTo>
                    <a:pt x="11439" y="126"/>
                    <a:pt x="11330" y="0"/>
                    <a:pt x="11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2538525" y="2805850"/>
              <a:ext cx="235225" cy="145600"/>
            </a:xfrm>
            <a:custGeom>
              <a:avLst/>
              <a:gdLst/>
              <a:ahLst/>
              <a:cxnLst/>
              <a:rect l="l" t="t" r="r" b="b"/>
              <a:pathLst>
                <a:path w="9409" h="5824" extrusionOk="0">
                  <a:moveTo>
                    <a:pt x="6032" y="512"/>
                  </a:moveTo>
                  <a:cubicBezTo>
                    <a:pt x="6225" y="512"/>
                    <a:pt x="6378" y="665"/>
                    <a:pt x="6378" y="857"/>
                  </a:cubicBezTo>
                  <a:cubicBezTo>
                    <a:pt x="6371" y="1086"/>
                    <a:pt x="6205" y="1201"/>
                    <a:pt x="6039" y="1201"/>
                  </a:cubicBezTo>
                  <a:cubicBezTo>
                    <a:pt x="5873" y="1201"/>
                    <a:pt x="5707" y="1086"/>
                    <a:pt x="5700" y="857"/>
                  </a:cubicBezTo>
                  <a:cubicBezTo>
                    <a:pt x="5700" y="665"/>
                    <a:pt x="5853" y="512"/>
                    <a:pt x="6032" y="512"/>
                  </a:cubicBezTo>
                  <a:close/>
                  <a:moveTo>
                    <a:pt x="1192" y="1481"/>
                  </a:moveTo>
                  <a:cubicBezTo>
                    <a:pt x="1385" y="1481"/>
                    <a:pt x="1538" y="1647"/>
                    <a:pt x="1538" y="1826"/>
                  </a:cubicBezTo>
                  <a:cubicBezTo>
                    <a:pt x="1531" y="2056"/>
                    <a:pt x="1365" y="2170"/>
                    <a:pt x="1199" y="2170"/>
                  </a:cubicBezTo>
                  <a:cubicBezTo>
                    <a:pt x="1033" y="2170"/>
                    <a:pt x="867" y="2056"/>
                    <a:pt x="860" y="1826"/>
                  </a:cubicBezTo>
                  <a:cubicBezTo>
                    <a:pt x="844" y="1647"/>
                    <a:pt x="1010" y="1481"/>
                    <a:pt x="1192" y="1481"/>
                  </a:cubicBezTo>
                  <a:close/>
                  <a:moveTo>
                    <a:pt x="3612" y="2949"/>
                  </a:moveTo>
                  <a:cubicBezTo>
                    <a:pt x="3805" y="2949"/>
                    <a:pt x="3958" y="3098"/>
                    <a:pt x="3958" y="3280"/>
                  </a:cubicBezTo>
                  <a:cubicBezTo>
                    <a:pt x="3951" y="3508"/>
                    <a:pt x="3785" y="3622"/>
                    <a:pt x="3619" y="3622"/>
                  </a:cubicBezTo>
                  <a:cubicBezTo>
                    <a:pt x="3453" y="3622"/>
                    <a:pt x="3287" y="3508"/>
                    <a:pt x="3280" y="3280"/>
                  </a:cubicBezTo>
                  <a:cubicBezTo>
                    <a:pt x="3280" y="3098"/>
                    <a:pt x="3433" y="2949"/>
                    <a:pt x="3612" y="2949"/>
                  </a:cubicBezTo>
                  <a:close/>
                  <a:moveTo>
                    <a:pt x="8452" y="2949"/>
                  </a:moveTo>
                  <a:cubicBezTo>
                    <a:pt x="8645" y="2949"/>
                    <a:pt x="8798" y="3098"/>
                    <a:pt x="8798" y="3280"/>
                  </a:cubicBezTo>
                  <a:cubicBezTo>
                    <a:pt x="8798" y="3473"/>
                    <a:pt x="8645" y="3626"/>
                    <a:pt x="8452" y="3626"/>
                  </a:cubicBezTo>
                  <a:cubicBezTo>
                    <a:pt x="8011" y="3612"/>
                    <a:pt x="8011" y="2962"/>
                    <a:pt x="8452" y="2949"/>
                  </a:cubicBezTo>
                  <a:close/>
                  <a:moveTo>
                    <a:pt x="1773" y="2490"/>
                  </a:moveTo>
                  <a:lnTo>
                    <a:pt x="2769" y="3085"/>
                  </a:lnTo>
                  <a:cubicBezTo>
                    <a:pt x="2656" y="3529"/>
                    <a:pt x="2935" y="3997"/>
                    <a:pt x="3333" y="4124"/>
                  </a:cubicBezTo>
                  <a:lnTo>
                    <a:pt x="3333" y="5299"/>
                  </a:lnTo>
                  <a:lnTo>
                    <a:pt x="1468" y="5299"/>
                  </a:lnTo>
                  <a:lnTo>
                    <a:pt x="1468" y="2670"/>
                  </a:lnTo>
                  <a:cubicBezTo>
                    <a:pt x="1577" y="2630"/>
                    <a:pt x="1674" y="2573"/>
                    <a:pt x="1773" y="2490"/>
                  </a:cubicBezTo>
                  <a:close/>
                  <a:moveTo>
                    <a:pt x="5644" y="1647"/>
                  </a:moveTo>
                  <a:cubicBezTo>
                    <a:pt x="5687" y="1661"/>
                    <a:pt x="5727" y="1687"/>
                    <a:pt x="5783" y="1704"/>
                  </a:cubicBezTo>
                  <a:lnTo>
                    <a:pt x="5783" y="5299"/>
                  </a:lnTo>
                  <a:lnTo>
                    <a:pt x="3901" y="5299"/>
                  </a:lnTo>
                  <a:lnTo>
                    <a:pt x="3901" y="4124"/>
                  </a:lnTo>
                  <a:cubicBezTo>
                    <a:pt x="4246" y="4011"/>
                    <a:pt x="4495" y="3679"/>
                    <a:pt x="4495" y="3294"/>
                  </a:cubicBezTo>
                  <a:cubicBezTo>
                    <a:pt x="4495" y="3141"/>
                    <a:pt x="4469" y="3015"/>
                    <a:pt x="4399" y="2892"/>
                  </a:cubicBezTo>
                  <a:lnTo>
                    <a:pt x="5644" y="1647"/>
                  </a:lnTo>
                  <a:close/>
                  <a:moveTo>
                    <a:pt x="6447" y="1647"/>
                  </a:moveTo>
                  <a:lnTo>
                    <a:pt x="7679" y="2892"/>
                  </a:lnTo>
                  <a:cubicBezTo>
                    <a:pt x="7430" y="3363"/>
                    <a:pt x="7692" y="3971"/>
                    <a:pt x="8190" y="4124"/>
                  </a:cubicBezTo>
                  <a:lnTo>
                    <a:pt x="8190" y="5299"/>
                  </a:lnTo>
                  <a:lnTo>
                    <a:pt x="6308" y="5299"/>
                  </a:lnTo>
                  <a:lnTo>
                    <a:pt x="6308" y="1704"/>
                  </a:lnTo>
                  <a:cubicBezTo>
                    <a:pt x="6351" y="1687"/>
                    <a:pt x="6404" y="1661"/>
                    <a:pt x="6447" y="1647"/>
                  </a:cubicBezTo>
                  <a:close/>
                  <a:moveTo>
                    <a:pt x="6015" y="1"/>
                  </a:moveTo>
                  <a:cubicBezTo>
                    <a:pt x="5387" y="1"/>
                    <a:pt x="4956" y="713"/>
                    <a:pt x="5259" y="1259"/>
                  </a:cubicBezTo>
                  <a:lnTo>
                    <a:pt x="4014" y="2517"/>
                  </a:lnTo>
                  <a:cubicBezTo>
                    <a:pt x="3894" y="2452"/>
                    <a:pt x="3757" y="2421"/>
                    <a:pt x="3620" y="2421"/>
                  </a:cubicBezTo>
                  <a:cubicBezTo>
                    <a:pt x="3408" y="2421"/>
                    <a:pt x="3196" y="2495"/>
                    <a:pt x="3045" y="2630"/>
                  </a:cubicBezTo>
                  <a:lnTo>
                    <a:pt x="2049" y="2036"/>
                  </a:lnTo>
                  <a:cubicBezTo>
                    <a:pt x="2170" y="1501"/>
                    <a:pt x="1754" y="970"/>
                    <a:pt x="1212" y="970"/>
                  </a:cubicBezTo>
                  <a:cubicBezTo>
                    <a:pt x="1206" y="970"/>
                    <a:pt x="1199" y="970"/>
                    <a:pt x="1192" y="970"/>
                  </a:cubicBezTo>
                  <a:cubicBezTo>
                    <a:pt x="196" y="983"/>
                    <a:pt x="1" y="2351"/>
                    <a:pt x="927" y="2670"/>
                  </a:cubicBezTo>
                  <a:lnTo>
                    <a:pt x="927" y="5299"/>
                  </a:lnTo>
                  <a:lnTo>
                    <a:pt x="595" y="5299"/>
                  </a:lnTo>
                  <a:cubicBezTo>
                    <a:pt x="236" y="5312"/>
                    <a:pt x="236" y="5810"/>
                    <a:pt x="595" y="5823"/>
                  </a:cubicBezTo>
                  <a:lnTo>
                    <a:pt x="9060" y="5823"/>
                  </a:lnTo>
                  <a:cubicBezTo>
                    <a:pt x="9408" y="5810"/>
                    <a:pt x="9408" y="5312"/>
                    <a:pt x="9060" y="5299"/>
                  </a:cubicBezTo>
                  <a:lnTo>
                    <a:pt x="8715" y="5299"/>
                  </a:lnTo>
                  <a:lnTo>
                    <a:pt x="8715" y="4124"/>
                  </a:lnTo>
                  <a:cubicBezTo>
                    <a:pt x="9076" y="4011"/>
                    <a:pt x="9325" y="3679"/>
                    <a:pt x="9325" y="3294"/>
                  </a:cubicBezTo>
                  <a:cubicBezTo>
                    <a:pt x="9336" y="2789"/>
                    <a:pt x="8905" y="2418"/>
                    <a:pt x="8446" y="2418"/>
                  </a:cubicBezTo>
                  <a:cubicBezTo>
                    <a:pt x="8313" y="2418"/>
                    <a:pt x="8178" y="2449"/>
                    <a:pt x="8051" y="2517"/>
                  </a:cubicBezTo>
                  <a:lnTo>
                    <a:pt x="6806" y="1259"/>
                  </a:lnTo>
                  <a:cubicBezTo>
                    <a:pt x="7108" y="713"/>
                    <a:pt x="6678" y="1"/>
                    <a:pt x="6050" y="1"/>
                  </a:cubicBezTo>
                  <a:cubicBezTo>
                    <a:pt x="6044" y="1"/>
                    <a:pt x="6038" y="1"/>
                    <a:pt x="6032" y="1"/>
                  </a:cubicBezTo>
                  <a:cubicBezTo>
                    <a:pt x="6027" y="1"/>
                    <a:pt x="6021" y="1"/>
                    <a:pt x="6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4" name="Google Shape;824;p38"/>
          <p:cNvSpPr txBox="1">
            <a:spLocks noGrp="1"/>
          </p:cNvSpPr>
          <p:nvPr>
            <p:ph type="title" idx="8"/>
          </p:nvPr>
        </p:nvSpPr>
        <p:spPr>
          <a:xfrm>
            <a:off x="1450200" y="267470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20" name="Google Shape;820;p38"/>
          <p:cNvSpPr txBox="1">
            <a:spLocks noGrp="1"/>
          </p:cNvSpPr>
          <p:nvPr>
            <p:ph type="title" idx="9"/>
          </p:nvPr>
        </p:nvSpPr>
        <p:spPr>
          <a:xfrm>
            <a:off x="3844625" y="1229151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7" name="Google Shape;827;p38"/>
          <p:cNvSpPr txBox="1">
            <a:spLocks noGrp="1"/>
          </p:cNvSpPr>
          <p:nvPr>
            <p:ph type="title" idx="13"/>
          </p:nvPr>
        </p:nvSpPr>
        <p:spPr>
          <a:xfrm>
            <a:off x="3844625" y="2674699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71" name="Google Shape;871;p38"/>
          <p:cNvSpPr txBox="1">
            <a:spLocks noGrp="1"/>
          </p:cNvSpPr>
          <p:nvPr>
            <p:ph type="title" idx="14"/>
          </p:nvPr>
        </p:nvSpPr>
        <p:spPr>
          <a:xfrm>
            <a:off x="6239100" y="1229152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2" name="Google Shape;872;p38"/>
          <p:cNvSpPr txBox="1">
            <a:spLocks noGrp="1"/>
          </p:cNvSpPr>
          <p:nvPr>
            <p:ph type="title" idx="15"/>
          </p:nvPr>
        </p:nvSpPr>
        <p:spPr>
          <a:xfrm>
            <a:off x="6239100" y="2674703"/>
            <a:ext cx="56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17" name="Google Shape;817;p38"/>
          <p:cNvSpPr txBox="1">
            <a:spLocks noGrp="1"/>
          </p:cNvSpPr>
          <p:nvPr>
            <p:ph type="title" idx="7"/>
          </p:nvPr>
        </p:nvSpPr>
        <p:spPr>
          <a:xfrm>
            <a:off x="1450150" y="1229150"/>
            <a:ext cx="5670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873" name="Google Shape;873;p38"/>
          <p:cNvCxnSpPr>
            <a:stCxn id="872" idx="3"/>
            <a:endCxn id="828" idx="1"/>
          </p:cNvCxnSpPr>
          <p:nvPr/>
        </p:nvCxnSpPr>
        <p:spPr>
          <a:xfrm rot="10800000" flipH="1">
            <a:off x="6806100" y="2958053"/>
            <a:ext cx="304800" cy="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874" name="Google Shape;874;p38"/>
          <p:cNvCxnSpPr>
            <a:stCxn id="871" idx="3"/>
            <a:endCxn id="821" idx="1"/>
          </p:cNvCxnSpPr>
          <p:nvPr/>
        </p:nvCxnSpPr>
        <p:spPr>
          <a:xfrm rot="10800000" flipH="1">
            <a:off x="6806100" y="1512502"/>
            <a:ext cx="304800" cy="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/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Overview</a:t>
            </a:r>
            <a:endParaRPr dirty="0"/>
          </a:p>
        </p:txBody>
      </p:sp>
      <p:sp>
        <p:nvSpPr>
          <p:cNvPr id="915" name="Google Shape;915;p40"/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16" name="Google Shape;916;p40"/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/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This Project About?</a:t>
            </a:r>
            <a:endParaRPr dirty="0"/>
          </a:p>
        </p:txBody>
      </p:sp>
      <p:sp>
        <p:nvSpPr>
          <p:cNvPr id="940" name="Google Shape;940;p41"/>
          <p:cNvSpPr txBox="1">
            <a:spLocks noGrp="1"/>
          </p:cNvSpPr>
          <p:nvPr>
            <p:ph type="subTitle" idx="1"/>
          </p:nvPr>
        </p:nvSpPr>
        <p:spPr>
          <a:xfrm>
            <a:off x="4674884" y="1177299"/>
            <a:ext cx="4220463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One-Click ETL Workflow</a:t>
            </a:r>
            <a:br>
              <a:rPr lang="en-US" dirty="0"/>
            </a:br>
            <a:r>
              <a:rPr lang="en-US" dirty="0"/>
              <a:t>Upload raw </a:t>
            </a:r>
            <a:r>
              <a:rPr lang="en-US" dirty="0" err="1"/>
              <a:t>Olist</a:t>
            </a:r>
            <a:r>
              <a:rPr lang="en-US" dirty="0"/>
              <a:t> CSVs and automatically clean, integrate, and build analytical data marts.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Automated Monthly KPI Analysis</a:t>
            </a:r>
            <a:br>
              <a:rPr lang="en-US" dirty="0"/>
            </a:br>
            <a:r>
              <a:rPr lang="en-US" dirty="0"/>
              <a:t>Revenue, Orders, AOV, Delivery Performance, Review Sentiment, and Category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AI-Generated Business Summaries</a:t>
            </a:r>
            <a:br>
              <a:rPr lang="en-US" dirty="0"/>
            </a:br>
            <a:r>
              <a:rPr lang="en-US" dirty="0"/>
              <a:t>Gemini LLM converts KPI factsheets into professional executive-style reports.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Interactive Streamlit Dashboard</a:t>
            </a:r>
            <a:br>
              <a:rPr lang="en-US" dirty="0"/>
            </a:br>
            <a:r>
              <a:rPr lang="en-US" dirty="0"/>
              <a:t>Visualizations, KPI exploration, downloadable marts, factsheets, and plots.</a:t>
            </a:r>
          </a:p>
          <a:p>
            <a:r>
              <a:rPr lang="en-US" b="1" dirty="0"/>
              <a:t>📦 Dataset</a:t>
            </a:r>
          </a:p>
          <a:p>
            <a:r>
              <a:rPr lang="en-US" b="1" dirty="0" err="1"/>
              <a:t>Olist</a:t>
            </a:r>
            <a:r>
              <a:rPr lang="en-US" b="1" dirty="0"/>
              <a:t> Brazilian E-Commerce Dataset</a:t>
            </a:r>
            <a:r>
              <a:rPr lang="en-US" dirty="0"/>
              <a:t> (Kaggle)</a:t>
            </a:r>
            <a:br>
              <a:rPr lang="en-US" dirty="0"/>
            </a:br>
            <a:r>
              <a:rPr lang="en-US" dirty="0"/>
              <a:t>A comprehensive multi-table dataset covering orders, payments, products, customers, logistics, and reviews.</a:t>
            </a:r>
          </a:p>
        </p:txBody>
      </p:sp>
      <p:sp>
        <p:nvSpPr>
          <p:cNvPr id="941" name="Google Shape;941;p41"/>
          <p:cNvSpPr txBox="1">
            <a:spLocks noGrp="1"/>
          </p:cNvSpPr>
          <p:nvPr>
            <p:ph type="subTitle" idx="2"/>
          </p:nvPr>
        </p:nvSpPr>
        <p:spPr>
          <a:xfrm>
            <a:off x="1531200" y="2229099"/>
            <a:ext cx="3040800" cy="10515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GOAL:</a:t>
            </a:r>
          </a:p>
          <a:p>
            <a:pPr marL="0" indent="0"/>
            <a:r>
              <a:rPr lang="en-US" dirty="0"/>
              <a:t>To automate the entire business reporting process by integrating </a:t>
            </a:r>
            <a:r>
              <a:rPr lang="en-US" b="1" dirty="0"/>
              <a:t>data engineering, analytics, and Generative AI</a:t>
            </a:r>
            <a:r>
              <a:rPr lang="en-US" dirty="0"/>
              <a:t>, enabling fast and accurate executive-level insights.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77BB2955-11B2-6F4A-492C-6453B117C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135BC9C4-2B34-EBAE-D873-6EBBFFFC0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8160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System Architecture</a:t>
            </a:r>
            <a:br>
              <a:rPr lang="en-US" dirty="0"/>
            </a:br>
            <a:endParaRPr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6B17E00A-7C69-B13D-EABD-DDED67F5F5B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1A73A403-216E-B30F-A507-6C2BD449EDE4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5D41C626-A57E-9C2A-2D32-BB7F25A136DC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F62C1D87-41F9-36FB-8ACA-4CC77F7D26FB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2D8BFE15-4E80-715A-3DDA-FA7DDC6B8CAA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42D0BB4E-323E-9067-99D6-EF9187BEFA05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E5641615-94F9-622F-784C-F5EB47653BF3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895DF7BA-781F-93E3-C44C-2608AB4040A7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D52B8760-BF0E-7167-69C8-E4F4579B1D02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CF70DC81-7336-F297-55AB-EC7EFB2E9D61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FBB09442-0BFC-FB47-9DDD-33FAFC9A17EA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79DB45F5-2CB1-336F-96C9-03C96DECFBAA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867D7112-C2A9-E84A-D207-9751275776A7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9654FF24-F1E8-7411-2E34-FB98675F0DE9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053CBF9F-935E-1149-1DE9-0C776FA2F84C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8452CDBB-879D-629F-B483-AB9EC63F9804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AA178B51-4836-E22E-4FB0-D00632630988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BD2103E9-E72F-1F19-5780-82CF788BA7CF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FB946A44-6BB0-ADBA-8DF9-CED14B76F5EC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249ABDAF-33EF-4F69-0DFA-270867E78DEC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7604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364299FD-C009-BBF5-8731-26783FA4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B6C67D83-A070-B31A-F578-12233BDE9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823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Does the System Work? (System Architecture)</a:t>
            </a:r>
            <a:endParaRPr dirty="0"/>
          </a:p>
        </p:txBody>
      </p:sp>
      <p:sp>
        <p:nvSpPr>
          <p:cNvPr id="940" name="Google Shape;940;p41">
            <a:extLst>
              <a:ext uri="{FF2B5EF4-FFF2-40B4-BE49-F238E27FC236}">
                <a16:creationId xmlns:a16="http://schemas.microsoft.com/office/drawing/2014/main" id="{477ED22F-2FB0-2995-06B6-D187C64ED0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6010" y="1409909"/>
            <a:ext cx="7611979" cy="3105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1. Data Ingestion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all </a:t>
            </a:r>
            <a:r>
              <a:rPr lang="en-US" b="1" dirty="0"/>
              <a:t>9 </a:t>
            </a:r>
            <a:r>
              <a:rPr lang="en-US" b="1" dirty="0" err="1"/>
              <a:t>Olist</a:t>
            </a:r>
            <a:r>
              <a:rPr lang="en-US" b="1" dirty="0"/>
              <a:t> CSV files</a:t>
            </a:r>
            <a:r>
              <a:rPr lang="en-US" dirty="0"/>
              <a:t> directly through the Streamlit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Files are validated and loaded into Pandas DataFrames.</a:t>
            </a:r>
          </a:p>
          <a:p>
            <a:r>
              <a:rPr lang="en-US" b="1" dirty="0"/>
              <a:t>2. Data Processing &amp; Mart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and </a:t>
            </a:r>
            <a:r>
              <a:rPr lang="en-US" b="1" dirty="0"/>
              <a:t>deduplicate</a:t>
            </a:r>
            <a:r>
              <a:rPr lang="en-US" dirty="0"/>
              <a:t>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Join multiple relational tables (orders, items, payments, reviews,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Build: </a:t>
            </a:r>
            <a:r>
              <a:rPr lang="en-US" b="1" dirty="0"/>
              <a:t>Monthly KPI, Mart</a:t>
            </a:r>
            <a:r>
              <a:rPr lang="en-US" dirty="0"/>
              <a:t> </a:t>
            </a:r>
            <a:r>
              <a:rPr lang="en-US" b="1" dirty="0"/>
              <a:t>Category Performance Mart</a:t>
            </a:r>
            <a:r>
              <a:rPr lang="en-US" dirty="0"/>
              <a:t> &amp;</a:t>
            </a:r>
            <a:r>
              <a:rPr lang="en-US" b="1" dirty="0"/>
              <a:t>Customer &amp; Product Dimension Tables</a:t>
            </a:r>
          </a:p>
          <a:p>
            <a:r>
              <a:rPr lang="en-US" b="1" dirty="0"/>
              <a:t>3. Analytics &amp;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key performance metrics:</a:t>
            </a:r>
          </a:p>
          <a:p>
            <a:pPr marL="781050" lvl="1" indent="-171450" algn="l">
              <a:buFont typeface="Wingdings" pitchFamily="2" charset="2"/>
              <a:buChar char="§"/>
            </a:pPr>
            <a:r>
              <a:rPr lang="en-US" dirty="0"/>
              <a:t>Revenue, Orders, AOV</a:t>
            </a:r>
          </a:p>
          <a:p>
            <a:pPr marL="781050" lvl="1" indent="-171450" algn="l">
              <a:buFont typeface="Wingdings" pitchFamily="2" charset="2"/>
              <a:buChar char="§"/>
            </a:pPr>
            <a:r>
              <a:rPr lang="en-US" dirty="0"/>
              <a:t>Delivery Speed &amp; Late Delivery Ratio</a:t>
            </a:r>
          </a:p>
          <a:p>
            <a:pPr marL="781050" lvl="1" indent="-171450" algn="l">
              <a:buFont typeface="Wingdings" pitchFamily="2" charset="2"/>
              <a:buChar char="§"/>
            </a:pPr>
            <a:r>
              <a:rPr lang="en-US" dirty="0"/>
              <a:t>Customer Review Sentiment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Trend graphs displayed using Matplotlib + Streamlit.</a:t>
            </a:r>
          </a:p>
          <a:p>
            <a:r>
              <a:rPr lang="en-US" b="1" dirty="0"/>
              <a:t>4. AI Factsheet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 last </a:t>
            </a:r>
            <a:r>
              <a:rPr lang="en-US" b="1" dirty="0"/>
              <a:t>3 months of KPIs</a:t>
            </a:r>
            <a:r>
              <a:rPr lang="en-US" dirty="0"/>
              <a:t> into a structured JSON factsheet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Gemini LLM</a:t>
            </a:r>
            <a:r>
              <a:rPr lang="en-US" dirty="0"/>
              <a:t> to turn KPIs into an executive-level business report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07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80781CA5-5FCE-096F-8BC3-C0FAFEECC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15759422-E988-E39F-6CA2-684DAE0E1E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Key Insights</a:t>
            </a:r>
            <a:endParaRPr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AE811CB1-B398-E6A2-CDC1-DDB70D6C8E3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56D45FBD-B005-9C61-5844-F65F40720153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43E53583-5383-B6A3-DBD4-16EF413D6F80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E2BA4048-A49D-8A9A-EB38-87795CFE1B6F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9C0A2750-A146-D427-7530-7C234A99B1EA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153F0A39-7BB5-C8DB-D626-AE134C0AC105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0CD9C701-5097-7100-7163-6D1CF636D550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E92B42D9-6180-CCCA-39BD-7844A62E9D63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F0853E1F-C034-8167-DA94-5D358C6C18E8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00D027DF-AF9D-34C0-7E39-B6A9224007D1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70983545-F803-C600-65F2-C5ACA7DBBA1E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A9389E42-B764-A710-FC91-13A65ED44535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EEA3E098-B79E-3C90-F564-7CE7073BD988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4BAC9978-8664-BD17-3071-3CCFB1CFB3EB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FBBE4EF4-AA89-04B1-7657-24CE4EF194E6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3EAE5F4C-B711-1CE9-57C6-B17039F4A058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1BC858AB-FCAE-8D6C-11E6-42CD3FF70592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9E17017C-D1E5-8B03-BC6C-4765555702BE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F7E3E8AF-07A5-B223-E811-96B410AE7252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5C26DADE-2A1A-210C-DACA-BB57DC87DE2E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825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2E02259D-7E19-55BB-10E6-204BB54A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43A2F230-409E-93FA-EB58-6E290DD17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823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Insights Did the Analysis Reveal?</a:t>
            </a:r>
            <a:endParaRPr dirty="0"/>
          </a:p>
        </p:txBody>
      </p:sp>
      <p:sp>
        <p:nvSpPr>
          <p:cNvPr id="940" name="Google Shape;940;p41">
            <a:extLst>
              <a:ext uri="{FF2B5EF4-FFF2-40B4-BE49-F238E27FC236}">
                <a16:creationId xmlns:a16="http://schemas.microsoft.com/office/drawing/2014/main" id="{CB59A77F-BC1D-821A-EF65-F80DADB57B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201362"/>
            <a:ext cx="3180348" cy="1004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600" b="1" dirty="0"/>
              <a:t>Financial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monthly </a:t>
            </a:r>
            <a:r>
              <a:rPr lang="en-US" b="1" dirty="0"/>
              <a:t>revenue trends</a:t>
            </a:r>
            <a:r>
              <a:rPr lang="en-US" dirty="0"/>
              <a:t> and seasonal fluctuations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Changes in </a:t>
            </a:r>
            <a:r>
              <a:rPr lang="en-US" b="1" dirty="0"/>
              <a:t>order volume</a:t>
            </a:r>
            <a:r>
              <a:rPr lang="en-US" dirty="0"/>
              <a:t> (growth or decline over time)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Variations in </a:t>
            </a:r>
            <a:r>
              <a:rPr lang="en-US" b="1" dirty="0"/>
              <a:t>Average Order Value (AOV)</a:t>
            </a:r>
            <a:r>
              <a:rPr lang="en-US" dirty="0"/>
              <a:t> indicating shifts in customer spending behavior</a:t>
            </a:r>
          </a:p>
          <a:p>
            <a:endParaRPr lang="en-US" dirty="0"/>
          </a:p>
        </p:txBody>
      </p:sp>
      <p:sp>
        <p:nvSpPr>
          <p:cNvPr id="4" name="Google Shape;940;p41">
            <a:extLst>
              <a:ext uri="{FF2B5EF4-FFF2-40B4-BE49-F238E27FC236}">
                <a16:creationId xmlns:a16="http://schemas.microsoft.com/office/drawing/2014/main" id="{123F6332-62FA-8B3B-FA58-63E7078A1142}"/>
              </a:ext>
            </a:extLst>
          </p:cNvPr>
          <p:cNvSpPr txBox="1">
            <a:spLocks/>
          </p:cNvSpPr>
          <p:nvPr/>
        </p:nvSpPr>
        <p:spPr>
          <a:xfrm>
            <a:off x="4431632" y="1201362"/>
            <a:ext cx="3180348" cy="100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algn="ctr"/>
            <a:r>
              <a:rPr lang="en-US" sz="1600" b="1" dirty="0"/>
              <a:t>Logistics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Patterns in </a:t>
            </a:r>
            <a:r>
              <a:rPr lang="en-US" b="1" dirty="0"/>
              <a:t>delivery speed</a:t>
            </a:r>
            <a:r>
              <a:rPr lang="en-US" dirty="0"/>
              <a:t> and fulfillment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Late delivery ratio</a:t>
            </a:r>
            <a:r>
              <a:rPr lang="en-US" dirty="0"/>
              <a:t> trends identifying potential operational bottlenecks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Relationship between logistics performance and customer satisfaction</a:t>
            </a:r>
          </a:p>
          <a:p>
            <a:endParaRPr lang="en-US" dirty="0"/>
          </a:p>
        </p:txBody>
      </p:sp>
      <p:sp>
        <p:nvSpPr>
          <p:cNvPr id="5" name="Google Shape;940;p41">
            <a:extLst>
              <a:ext uri="{FF2B5EF4-FFF2-40B4-BE49-F238E27FC236}">
                <a16:creationId xmlns:a16="http://schemas.microsoft.com/office/drawing/2014/main" id="{15573A96-7191-A57D-FB66-2C1BE50B8E46}"/>
              </a:ext>
            </a:extLst>
          </p:cNvPr>
          <p:cNvSpPr txBox="1">
            <a:spLocks/>
          </p:cNvSpPr>
          <p:nvPr/>
        </p:nvSpPr>
        <p:spPr>
          <a:xfrm>
            <a:off x="720000" y="2927893"/>
            <a:ext cx="3180348" cy="100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algn="ctr"/>
            <a:r>
              <a:rPr lang="en-US" sz="1600" b="1" dirty="0"/>
              <a:t>Customer Experience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Monthly trends in </a:t>
            </a:r>
            <a:r>
              <a:rPr lang="en-US" b="1" dirty="0"/>
              <a:t>average review scores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Evidence of correlation between </a:t>
            </a:r>
            <a:r>
              <a:rPr lang="en-US" b="1" dirty="0"/>
              <a:t>delivery delays</a:t>
            </a:r>
            <a:r>
              <a:rPr lang="en-US" dirty="0"/>
              <a:t> and lower customer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Indicators of improving or declining customer sentiment</a:t>
            </a:r>
          </a:p>
          <a:p>
            <a:endParaRPr lang="en-US" dirty="0"/>
          </a:p>
        </p:txBody>
      </p:sp>
      <p:sp>
        <p:nvSpPr>
          <p:cNvPr id="6" name="Google Shape;940;p41">
            <a:extLst>
              <a:ext uri="{FF2B5EF4-FFF2-40B4-BE49-F238E27FC236}">
                <a16:creationId xmlns:a16="http://schemas.microsoft.com/office/drawing/2014/main" id="{0226613A-3AA6-71A4-E75C-F043602B82B3}"/>
              </a:ext>
            </a:extLst>
          </p:cNvPr>
          <p:cNvSpPr txBox="1">
            <a:spLocks/>
          </p:cNvSpPr>
          <p:nvPr/>
        </p:nvSpPr>
        <p:spPr>
          <a:xfrm>
            <a:off x="4431632" y="2927893"/>
            <a:ext cx="3180348" cy="100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algn="ctr"/>
            <a:r>
              <a:rPr lang="en-US" sz="1600" b="1" dirty="0"/>
              <a:t>Category Performance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Identification of </a:t>
            </a:r>
            <a:r>
              <a:rPr lang="en-US" b="1" dirty="0"/>
              <a:t>top-grossing product categories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Categories with </a:t>
            </a:r>
            <a:r>
              <a:rPr lang="en-US" b="1" dirty="0"/>
              <a:t>high freight cost impact</a:t>
            </a:r>
            <a:r>
              <a:rPr lang="en-US" dirty="0"/>
              <a:t> on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segments showing consistent demand or emerging growth</a:t>
            </a:r>
          </a:p>
        </p:txBody>
      </p:sp>
    </p:spTree>
    <p:extLst>
      <p:ext uri="{BB962C8B-B14F-4D97-AF65-F5344CB8AC3E}">
        <p14:creationId xmlns:p14="http://schemas.microsoft.com/office/powerpoint/2010/main" val="55680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1EB11B99-39B9-2C21-1AB2-F2C32AB5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1B9B316B-4CA7-8FA5-2F1B-27F33B882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Live Demo</a:t>
            </a:r>
            <a:endParaRPr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2B53D59A-67E2-5661-873F-79EC628633A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C987E6C0-CA62-C454-B2E6-FEF442C52C3D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3F0FD950-53D7-5F06-8825-A79DE3529F02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BA5C502B-9B3C-7D10-93AC-7B5E6B7293ED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FB97E4A3-6D7F-EDC0-0EC5-6DE687E31694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330AB48F-D91E-0585-4382-07AA67F012D1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0F4D94B4-BFB3-81B3-BC13-BF63FC96043A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006F06E0-E238-E437-A0AA-B0EDE7E41CEC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7242BE11-F552-45D4-55AD-0C6EC466DBA8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2C039237-C3C3-A384-7785-B9886FCA553C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6D1138F2-A8F0-27F9-92CB-2FD192D894CE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11307FD6-EF08-8AC7-8B2C-40E0A11904FE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11A649AD-C99B-C752-23A9-7DD17A725169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BCE893E9-3162-BED4-8278-4DCEEC58E8A5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9BCD196D-BC44-DAF8-D681-A2EA070A48EA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7EE64CD6-8EC7-D041-D7FF-E39334BD14B1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6465F8C9-662A-9EE9-ABDE-84A4F51B447F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75240DEC-3516-BCD1-A296-E7E811AAF85A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D5B6945F-6C5A-D15A-BDFB-059EE82EB3B8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3E4260F0-ABC8-C708-2DB8-F742FC822188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0722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FD86801B-E803-1AD0-18F4-7EDF43C5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AC7757AA-A6F2-60B3-B064-1DCB90275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42" y="1856730"/>
            <a:ext cx="77823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Let’s Walk Through the Live Streamlit Demo</a:t>
            </a:r>
          </a:p>
        </p:txBody>
      </p:sp>
    </p:spTree>
    <p:extLst>
      <p:ext uri="{BB962C8B-B14F-4D97-AF65-F5344CB8AC3E}">
        <p14:creationId xmlns:p14="http://schemas.microsoft.com/office/powerpoint/2010/main" val="2769231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7466CDA1-B25B-B7CD-B5CF-A9E0A221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7D9F5D6D-F0AA-2FD9-6047-97005CE99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5649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Benefits &amp; Real-World Applications</a:t>
            </a:r>
            <a:br>
              <a:rPr lang="en-US" dirty="0"/>
            </a:br>
            <a:endParaRPr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1D47D5F4-C0B0-B051-E669-C9FEE7C47A1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032D2FF3-3BC0-DA49-724F-462574CDFA60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FBE3661C-E154-7213-9909-320EF446D229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42047F96-C4DF-CC5A-0032-5598B9A3AF65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8E85C633-6FB9-2246-7C7D-BB018281DE55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20B929FA-FA2D-B308-397B-BE8A8DF34403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6D5B1103-8604-9571-A4F9-D7C474A3CC7F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A45510B8-C028-2134-1F84-ABDBCFE6DAFB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548E85E5-5226-6D5B-7C3C-293D694E99AB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A55DDFEA-EE85-5042-5788-D3FC35D4BB5B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7D763423-B3BA-9F78-10C9-44C52E1DA732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B32DAAFD-E101-7C2F-443B-B98B3AC0988F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42443848-119B-E829-259D-AC91DD23F44F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A07FED6F-29F0-7B64-6231-58F5FE6A7058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FEE3703F-1B9C-C7E0-5F7B-920BA8DA98F6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E81C16A0-ECF5-A5B4-0174-E891DC1BEEC8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78FE2513-D0EE-1ECA-581C-36AAA7A7D490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5E686B97-8976-7672-D3F9-B262B1E84F50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C351428D-838E-D6ED-D49E-9B2F8DD5E594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BEDAD63E-CAA2-7136-CB33-0F0F05F2193B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8371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DC4119EC-D2AC-49AC-E312-D3C1B67A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DF0529A1-80A4-DE1B-D29B-A8EDE4DAA8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823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Does This Solution Matter in the Real World?</a:t>
            </a:r>
            <a:endParaRPr dirty="0"/>
          </a:p>
        </p:txBody>
      </p:sp>
      <p:sp>
        <p:nvSpPr>
          <p:cNvPr id="940" name="Google Shape;940;p41">
            <a:extLst>
              <a:ext uri="{FF2B5EF4-FFF2-40B4-BE49-F238E27FC236}">
                <a16:creationId xmlns:a16="http://schemas.microsoft.com/office/drawing/2014/main" id="{89C850C7-49A8-8DBA-5940-859B325AB7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567322"/>
            <a:ext cx="4004401" cy="1004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Business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 Savings</a:t>
            </a:r>
            <a:br>
              <a:rPr lang="en-US" dirty="0"/>
            </a:br>
            <a:r>
              <a:rPr lang="en-US" dirty="0"/>
              <a:t>Automates monthly and quarterly reporting workflows, reducing manual effort dramatically.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Consistency</a:t>
            </a:r>
            <a:br>
              <a:rPr lang="en-US" dirty="0"/>
            </a:br>
            <a:r>
              <a:rPr lang="en-US" dirty="0"/>
              <a:t>Ensures the same KPIs, same calculation logic, and same structure every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</a:t>
            </a:r>
            <a:br>
              <a:rPr lang="en-US" dirty="0"/>
            </a:br>
            <a:r>
              <a:rPr lang="en-US" dirty="0"/>
              <a:t>Eliminates manual errors from copying, pasting, or recalculating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br>
              <a:rPr lang="en-US" dirty="0"/>
            </a:br>
            <a:r>
              <a:rPr lang="en-US" dirty="0"/>
              <a:t>Works efficiently with small datasets or millions of records with only minor adjustments.</a:t>
            </a:r>
          </a:p>
        </p:txBody>
      </p:sp>
      <p:sp>
        <p:nvSpPr>
          <p:cNvPr id="4" name="Google Shape;940;p41">
            <a:extLst>
              <a:ext uri="{FF2B5EF4-FFF2-40B4-BE49-F238E27FC236}">
                <a16:creationId xmlns:a16="http://schemas.microsoft.com/office/drawing/2014/main" id="{41186A92-A940-9BC0-6D7A-26F1AC5C5BFE}"/>
              </a:ext>
            </a:extLst>
          </p:cNvPr>
          <p:cNvSpPr txBox="1">
            <a:spLocks/>
          </p:cNvSpPr>
          <p:nvPr/>
        </p:nvSpPr>
        <p:spPr>
          <a:xfrm>
            <a:off x="4572000" y="1567322"/>
            <a:ext cx="4491789" cy="100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b="1" dirty="0"/>
              <a:t>Real-World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E-commerce Performance Reviews</a:t>
            </a:r>
            <a:br>
              <a:rPr lang="en-US" dirty="0"/>
            </a:br>
            <a:r>
              <a:rPr lang="en-US" dirty="0"/>
              <a:t>Automated reporting for revenue, orders, and customer ratings.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Business Intelligence Teams</a:t>
            </a:r>
            <a:br>
              <a:rPr lang="en-US" dirty="0"/>
            </a:br>
            <a:r>
              <a:rPr lang="en-US" dirty="0"/>
              <a:t>Supports recurring dashboards with AI-generated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Logistics &amp; Delivery Monitoring</a:t>
            </a:r>
            <a:br>
              <a:rPr lang="en-US" dirty="0"/>
            </a:br>
            <a:r>
              <a:rPr lang="en-US" dirty="0"/>
              <a:t>Tracks delivery times, late ratios, and operational bottlenecks.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Customer Satisfaction Analysis</a:t>
            </a:r>
            <a:br>
              <a:rPr lang="en-US" dirty="0"/>
            </a:br>
            <a:r>
              <a:rPr lang="en-US" dirty="0"/>
              <a:t>Measures review trends and identifies negative sentiment drivers.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Executive Dashboards</a:t>
            </a:r>
            <a:br>
              <a:rPr lang="en-US" dirty="0"/>
            </a:br>
            <a:r>
              <a:rPr lang="en-US" dirty="0"/>
              <a:t>Adds AI-generated insights directly into presentations and reports.</a:t>
            </a:r>
          </a:p>
        </p:txBody>
      </p:sp>
    </p:spTree>
    <p:extLst>
      <p:ext uri="{BB962C8B-B14F-4D97-AF65-F5344CB8AC3E}">
        <p14:creationId xmlns:p14="http://schemas.microsoft.com/office/powerpoint/2010/main" val="2157627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>
          <a:extLst>
            <a:ext uri="{FF2B5EF4-FFF2-40B4-BE49-F238E27FC236}">
              <a16:creationId xmlns:a16="http://schemas.microsoft.com/office/drawing/2014/main" id="{E63AB8A7-48C1-87EB-1872-1356C652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0">
            <a:extLst>
              <a:ext uri="{FF2B5EF4-FFF2-40B4-BE49-F238E27FC236}">
                <a16:creationId xmlns:a16="http://schemas.microsoft.com/office/drawing/2014/main" id="{C6083E35-292F-DF6A-12E6-2211C317BA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5025" y="1816050"/>
            <a:ext cx="41583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Conclusion</a:t>
            </a:r>
            <a:br>
              <a:rPr lang="en-US" dirty="0"/>
            </a:br>
            <a:endParaRPr dirty="0"/>
          </a:p>
        </p:txBody>
      </p:sp>
      <p:sp>
        <p:nvSpPr>
          <p:cNvPr id="915" name="Google Shape;915;p40">
            <a:extLst>
              <a:ext uri="{FF2B5EF4-FFF2-40B4-BE49-F238E27FC236}">
                <a16:creationId xmlns:a16="http://schemas.microsoft.com/office/drawing/2014/main" id="{CF6ECB58-C246-1664-E5C3-29F97D4C751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50075" y="1564950"/>
            <a:ext cx="969000" cy="151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grpSp>
        <p:nvGrpSpPr>
          <p:cNvPr id="916" name="Google Shape;916;p40">
            <a:extLst>
              <a:ext uri="{FF2B5EF4-FFF2-40B4-BE49-F238E27FC236}">
                <a16:creationId xmlns:a16="http://schemas.microsoft.com/office/drawing/2014/main" id="{C99B0320-9CEE-6FD1-1A51-4E7061DCFAD0}"/>
              </a:ext>
            </a:extLst>
          </p:cNvPr>
          <p:cNvGrpSpPr/>
          <p:nvPr/>
        </p:nvGrpSpPr>
        <p:grpSpPr>
          <a:xfrm flipH="1">
            <a:off x="6775879" y="3868746"/>
            <a:ext cx="3599787" cy="1044104"/>
            <a:chOff x="-1431671" y="656496"/>
            <a:chExt cx="3599787" cy="1044104"/>
          </a:xfrm>
        </p:grpSpPr>
        <p:grpSp>
          <p:nvGrpSpPr>
            <p:cNvPr id="917" name="Google Shape;917;p40">
              <a:extLst>
                <a:ext uri="{FF2B5EF4-FFF2-40B4-BE49-F238E27FC236}">
                  <a16:creationId xmlns:a16="http://schemas.microsoft.com/office/drawing/2014/main" id="{CF58C23A-2535-36C8-A8FB-AE2B10422750}"/>
                </a:ext>
              </a:extLst>
            </p:cNvPr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918" name="Google Shape;918;p40">
                <a:extLst>
                  <a:ext uri="{FF2B5EF4-FFF2-40B4-BE49-F238E27FC236}">
                    <a16:creationId xmlns:a16="http://schemas.microsoft.com/office/drawing/2014/main" id="{29AA8569-9449-3142-894C-ADF75775D461}"/>
                  </a:ext>
                </a:extLst>
              </p:cNvPr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19" name="Google Shape;919;p40">
                <a:extLst>
                  <a:ext uri="{FF2B5EF4-FFF2-40B4-BE49-F238E27FC236}">
                    <a16:creationId xmlns:a16="http://schemas.microsoft.com/office/drawing/2014/main" id="{6D3F2AD9-9614-3AA8-E841-7F3F2CF84936}"/>
                  </a:ext>
                </a:extLst>
              </p:cNvPr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0" name="Google Shape;920;p40">
              <a:extLst>
                <a:ext uri="{FF2B5EF4-FFF2-40B4-BE49-F238E27FC236}">
                  <a16:creationId xmlns:a16="http://schemas.microsoft.com/office/drawing/2014/main" id="{CC488382-ADD9-6C66-21B4-34D018E7355A}"/>
                </a:ext>
              </a:extLst>
            </p:cNvPr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921" name="Google Shape;921;p40">
                <a:extLst>
                  <a:ext uri="{FF2B5EF4-FFF2-40B4-BE49-F238E27FC236}">
                    <a16:creationId xmlns:a16="http://schemas.microsoft.com/office/drawing/2014/main" id="{773B477C-EBAE-4F78-E0F2-A4BA2722D770}"/>
                  </a:ext>
                </a:extLst>
              </p:cNvPr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Google Shape;922;p40">
                <a:extLst>
                  <a:ext uri="{FF2B5EF4-FFF2-40B4-BE49-F238E27FC236}">
                    <a16:creationId xmlns:a16="http://schemas.microsoft.com/office/drawing/2014/main" id="{292018CF-3C3A-B329-3351-E9D8FE7878D7}"/>
                  </a:ext>
                </a:extLst>
              </p:cNvPr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3" name="Google Shape;923;p40">
              <a:extLst>
                <a:ext uri="{FF2B5EF4-FFF2-40B4-BE49-F238E27FC236}">
                  <a16:creationId xmlns:a16="http://schemas.microsoft.com/office/drawing/2014/main" id="{45577E69-2A83-8D7D-45CA-EBF279EF6261}"/>
                </a:ext>
              </a:extLst>
            </p:cNvPr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924" name="Google Shape;924;p40">
                <a:extLst>
                  <a:ext uri="{FF2B5EF4-FFF2-40B4-BE49-F238E27FC236}">
                    <a16:creationId xmlns:a16="http://schemas.microsoft.com/office/drawing/2014/main" id="{298C314D-D1BC-022E-226C-80B73F63E8C5}"/>
                  </a:ext>
                </a:extLst>
              </p:cNvPr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Google Shape;925;p40">
                <a:extLst>
                  <a:ext uri="{FF2B5EF4-FFF2-40B4-BE49-F238E27FC236}">
                    <a16:creationId xmlns:a16="http://schemas.microsoft.com/office/drawing/2014/main" id="{F0424364-D726-064C-F14E-5F1AEFB995F9}"/>
                  </a:ext>
                </a:extLst>
              </p:cNvPr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6" name="Google Shape;926;p40">
              <a:extLst>
                <a:ext uri="{FF2B5EF4-FFF2-40B4-BE49-F238E27FC236}">
                  <a16:creationId xmlns:a16="http://schemas.microsoft.com/office/drawing/2014/main" id="{4A013CE5-65A6-30A2-58D7-AE34E357EE19}"/>
                </a:ext>
              </a:extLst>
            </p:cNvPr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927" name="Google Shape;927;p40">
                <a:extLst>
                  <a:ext uri="{FF2B5EF4-FFF2-40B4-BE49-F238E27FC236}">
                    <a16:creationId xmlns:a16="http://schemas.microsoft.com/office/drawing/2014/main" id="{0B14A4B9-AA33-F83A-3FEB-8EA3663737BF}"/>
                  </a:ext>
                </a:extLst>
              </p:cNvPr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Google Shape;928;p40">
                <a:extLst>
                  <a:ext uri="{FF2B5EF4-FFF2-40B4-BE49-F238E27FC236}">
                    <a16:creationId xmlns:a16="http://schemas.microsoft.com/office/drawing/2014/main" id="{6CDC87F5-BBBB-4686-F6D8-66A175780CA2}"/>
                  </a:ext>
                </a:extLst>
              </p:cNvPr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9" name="Google Shape;929;p40">
              <a:extLst>
                <a:ext uri="{FF2B5EF4-FFF2-40B4-BE49-F238E27FC236}">
                  <a16:creationId xmlns:a16="http://schemas.microsoft.com/office/drawing/2014/main" id="{00A8A145-77EB-EC97-CC67-2E76B3AF4856}"/>
                </a:ext>
              </a:extLst>
            </p:cNvPr>
            <p:cNvGrpSpPr/>
            <p:nvPr/>
          </p:nvGrpSpPr>
          <p:grpSpPr>
            <a:xfrm>
              <a:off x="-856882" y="656496"/>
              <a:ext cx="2430997" cy="185534"/>
              <a:chOff x="1748547" y="1392116"/>
              <a:chExt cx="5911958" cy="451312"/>
            </a:xfrm>
          </p:grpSpPr>
          <p:sp>
            <p:nvSpPr>
              <p:cNvPr id="930" name="Google Shape;930;p40">
                <a:extLst>
                  <a:ext uri="{FF2B5EF4-FFF2-40B4-BE49-F238E27FC236}">
                    <a16:creationId xmlns:a16="http://schemas.microsoft.com/office/drawing/2014/main" id="{E89AEFCE-33ED-1B66-802D-D4464EF9EA36}"/>
                  </a:ext>
                </a:extLst>
              </p:cNvPr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Google Shape;931;p40">
                <a:extLst>
                  <a:ext uri="{FF2B5EF4-FFF2-40B4-BE49-F238E27FC236}">
                    <a16:creationId xmlns:a16="http://schemas.microsoft.com/office/drawing/2014/main" id="{533B7492-008F-8779-FA66-C44109C26373}"/>
                  </a:ext>
                </a:extLst>
              </p:cNvPr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2" name="Google Shape;932;p40">
              <a:extLst>
                <a:ext uri="{FF2B5EF4-FFF2-40B4-BE49-F238E27FC236}">
                  <a16:creationId xmlns:a16="http://schemas.microsoft.com/office/drawing/2014/main" id="{EB3CC417-872E-5B61-5B4B-655DC5209889}"/>
                </a:ext>
              </a:extLst>
            </p:cNvPr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933" name="Google Shape;933;p40">
                <a:extLst>
                  <a:ext uri="{FF2B5EF4-FFF2-40B4-BE49-F238E27FC236}">
                    <a16:creationId xmlns:a16="http://schemas.microsoft.com/office/drawing/2014/main" id="{2B3B0868-8BF2-1B48-7816-B35138D178F2}"/>
                  </a:ext>
                </a:extLst>
              </p:cNvPr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34" name="Google Shape;934;p40">
                <a:extLst>
                  <a:ext uri="{FF2B5EF4-FFF2-40B4-BE49-F238E27FC236}">
                    <a16:creationId xmlns:a16="http://schemas.microsoft.com/office/drawing/2014/main" id="{54F6F652-BF47-2BCC-B784-5B025CEBA88E}"/>
                  </a:ext>
                </a:extLst>
              </p:cNvPr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37791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30B10025-5339-EA8B-8025-362B06F0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67FE7E9C-FF1D-B09D-6E89-17A3D8172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0842" y="1187127"/>
            <a:ext cx="77823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940" name="Google Shape;940;p41">
            <a:extLst>
              <a:ext uri="{FF2B5EF4-FFF2-40B4-BE49-F238E27FC236}">
                <a16:creationId xmlns:a16="http://schemas.microsoft.com/office/drawing/2014/main" id="{85B3D720-17AA-F92F-11EF-7537E5A1199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759827"/>
            <a:ext cx="7517621" cy="2210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	This project demonstrates how </a:t>
            </a:r>
            <a:r>
              <a:rPr lang="en-US" b="1" dirty="0"/>
              <a:t>Generative AI</a:t>
            </a:r>
            <a:r>
              <a:rPr lang="en-US" dirty="0"/>
              <a:t> can transform traditional business reporting by fully automating KPI extraction, data processing, and narrative insight generation. The integrated </a:t>
            </a:r>
            <a:r>
              <a:rPr lang="en-US" b="1" dirty="0"/>
              <a:t>Streamlit application</a:t>
            </a:r>
            <a:r>
              <a:rPr lang="en-US" dirty="0"/>
              <a:t> streamlines the entire workflow—reducing manual effort, improving consistency, and delivering clear, executive-ready reports within seconds.</a:t>
            </a:r>
          </a:p>
          <a:p>
            <a:endParaRPr lang="en-US" dirty="0"/>
          </a:p>
          <a:p>
            <a:r>
              <a:rPr lang="en-US" dirty="0"/>
              <a:t>	By merging </a:t>
            </a:r>
            <a:r>
              <a:rPr lang="en-US" b="1" dirty="0"/>
              <a:t>data engineering</a:t>
            </a:r>
            <a:r>
              <a:rPr lang="en-US" dirty="0"/>
              <a:t>, </a:t>
            </a:r>
            <a:r>
              <a:rPr lang="en-US" b="1" dirty="0"/>
              <a:t>analytics</a:t>
            </a:r>
            <a:r>
              <a:rPr lang="en-US" dirty="0"/>
              <a:t>, and </a:t>
            </a:r>
            <a:r>
              <a:rPr lang="en-US" b="1" dirty="0"/>
              <a:t>LLM-powered interpretation</a:t>
            </a:r>
            <a:r>
              <a:rPr lang="en-US" dirty="0"/>
              <a:t>, the solution provides a scalable and intelligent foundation for future reporting systems. This framework can be expanded with </a:t>
            </a:r>
            <a:r>
              <a:rPr lang="en-US" b="1" dirty="0"/>
              <a:t>forecasting models</a:t>
            </a:r>
            <a:r>
              <a:rPr lang="en-US" dirty="0"/>
              <a:t>, </a:t>
            </a:r>
            <a:r>
              <a:rPr lang="en-US" b="1" dirty="0"/>
              <a:t>customer segmentation</a:t>
            </a:r>
            <a:r>
              <a:rPr lang="en-US" dirty="0"/>
              <a:t>, and </a:t>
            </a:r>
            <a:r>
              <a:rPr lang="en-US" b="1" dirty="0"/>
              <a:t>real-time data pipelines</a:t>
            </a:r>
            <a:r>
              <a:rPr lang="en-US" dirty="0"/>
              <a:t>, making it a powerful tool for modern, data-driven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3130109678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</Words>
  <Application>Microsoft Macintosh PowerPoint</Application>
  <PresentationFormat>On-screen Show (16:9)</PresentationFormat>
  <Paragraphs>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Poppins</vt:lpstr>
      <vt:lpstr>Arial</vt:lpstr>
      <vt:lpstr>Barlow</vt:lpstr>
      <vt:lpstr>Poppins ExtraBold</vt:lpstr>
      <vt:lpstr>Anaheim</vt:lpstr>
      <vt:lpstr>Wingdings</vt:lpstr>
      <vt:lpstr>Poppins Black</vt:lpstr>
      <vt:lpstr>Data Analytics Strategy Toolkit by Slidesgo</vt:lpstr>
      <vt:lpstr>AI-Driven Automated Business Reporting Using the Olist E-Commerce Dataset</vt:lpstr>
      <vt:lpstr>TABLE OF CONTENTS</vt:lpstr>
      <vt:lpstr>Overview</vt:lpstr>
      <vt:lpstr>What Is This Project About?</vt:lpstr>
      <vt:lpstr>System Architecture </vt:lpstr>
      <vt:lpstr>How Does the System Work? (System Architecture)</vt:lpstr>
      <vt:lpstr>Key Insights</vt:lpstr>
      <vt:lpstr>What Insights Did the Analysis Reveal?</vt:lpstr>
      <vt:lpstr>Live Demo</vt:lpstr>
      <vt:lpstr>Let’s Walk Through the Live Streamlit Demo</vt:lpstr>
      <vt:lpstr>Benefits &amp; Real-World Applications </vt:lpstr>
      <vt:lpstr>Why Does This Solution Matter in the Real World?</vt:lpstr>
      <vt:lpstr>Conclusion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Automated Business Reporting Using the Olist E-Commerce Dataset</dc:title>
  <cp:lastModifiedBy>Panta, Venkatesh</cp:lastModifiedBy>
  <cp:revision>1</cp:revision>
  <dcterms:modified xsi:type="dcterms:W3CDTF">2025-11-18T01:14:38Z</dcterms:modified>
</cp:coreProperties>
</file>